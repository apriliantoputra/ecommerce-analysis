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8288000" cy="10287000"/>
  <p:notesSz cx="6858000" cy="9144000"/>
  <p:embeddedFontLst>
    <p:embeddedFont>
      <p:font typeface="Open Sans" panose="020B0606030504020204" pitchFamily="34" charset="0"/>
      <p:regular r:id="rId11"/>
      <p:bold r:id="rId12"/>
      <p:italic r:id="rId13"/>
      <p:boldItalic r:id="rId14"/>
    </p:embeddedFont>
    <p:embeddedFont>
      <p:font typeface="Open Sans Bold" panose="020B0806030504020204" charset="0"/>
      <p:regular r:id="rId15"/>
    </p:embeddedFont>
    <p:embeddedFont>
      <p:font typeface="TT Interphases" panose="020B0604020202020204" charset="0"/>
      <p:regular r:id="rId16"/>
    </p:embeddedFont>
    <p:embeddedFont>
      <p:font typeface="TT Interphase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9" d="100"/>
          <a:sy n="59" d="100"/>
        </p:scale>
        <p:origin x="466" y="-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14617" y="2085329"/>
            <a:ext cx="6830486" cy="7424441"/>
          </a:xfrm>
          <a:custGeom>
            <a:avLst/>
            <a:gdLst/>
            <a:ahLst/>
            <a:cxnLst/>
            <a:rect l="l" t="t" r="r" b="b"/>
            <a:pathLst>
              <a:path w="6830486" h="7424441">
                <a:moveTo>
                  <a:pt x="0" y="0"/>
                </a:moveTo>
                <a:lnTo>
                  <a:pt x="6830486" y="0"/>
                </a:lnTo>
                <a:lnTo>
                  <a:pt x="6830486" y="7424441"/>
                </a:lnTo>
                <a:lnTo>
                  <a:pt x="0" y="7424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75716" y="1348995"/>
            <a:ext cx="1543050" cy="1543050"/>
          </a:xfrm>
          <a:custGeom>
            <a:avLst/>
            <a:gdLst/>
            <a:ahLst/>
            <a:cxnLst/>
            <a:rect l="l" t="t" r="r" b="b"/>
            <a:pathLst>
              <a:path w="1543050" h="1543050">
                <a:moveTo>
                  <a:pt x="0" y="0"/>
                </a:moveTo>
                <a:lnTo>
                  <a:pt x="1543050" y="0"/>
                </a:lnTo>
                <a:lnTo>
                  <a:pt x="1543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66800" y="2252899"/>
            <a:ext cx="8267700" cy="1770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4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Analisis</a:t>
            </a:r>
            <a:r>
              <a:rPr lang="en-US" sz="4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Penjualan E-commerce Des 2023- Nov 2025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00289" y="5057775"/>
            <a:ext cx="7675364" cy="139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Insight Bisnis untuk Optimalisasi</a:t>
            </a:r>
          </a:p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Penjualan &amp; Operasional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13399" y="6515127"/>
            <a:ext cx="2852758" cy="1671193"/>
            <a:chOff x="0" y="0"/>
            <a:chExt cx="751344" cy="440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1344" cy="440150"/>
            </a:xfrm>
            <a:custGeom>
              <a:avLst/>
              <a:gdLst/>
              <a:ahLst/>
              <a:cxnLst/>
              <a:rect l="l" t="t" r="r" b="b"/>
              <a:pathLst>
                <a:path w="751344" h="440150">
                  <a:moveTo>
                    <a:pt x="0" y="0"/>
                  </a:moveTo>
                  <a:lnTo>
                    <a:pt x="751344" y="0"/>
                  </a:lnTo>
                  <a:lnTo>
                    <a:pt x="751344" y="440150"/>
                  </a:lnTo>
                  <a:lnTo>
                    <a:pt x="0" y="440150"/>
                  </a:lnTo>
                  <a:close/>
                </a:path>
              </a:pathLst>
            </a:custGeom>
            <a:solidFill>
              <a:srgbClr val="3779E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751344" cy="383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3"/>
                </a:lnSpc>
              </a:pPr>
              <a:r>
                <a:rPr lang="en-US" sz="2199" spc="-107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💰 </a:t>
              </a:r>
              <a:r>
                <a:rPr lang="en-US" sz="2199" b="1" spc="-10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Total Pendapatan:</a:t>
              </a:r>
            </a:p>
            <a:p>
              <a:pPr algn="ctr">
                <a:lnSpc>
                  <a:spcPts val="1913"/>
                </a:lnSpc>
              </a:pPr>
              <a:endParaRPr lang="en-US" sz="2199" b="1" spc="-10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  <a:p>
              <a:pPr algn="ctr">
                <a:lnSpc>
                  <a:spcPts val="1913"/>
                </a:lnSpc>
              </a:pPr>
              <a:r>
                <a:rPr lang="en-US" sz="2199" b="1" spc="-10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Rp 1,056,651,631</a:t>
              </a:r>
            </a:p>
            <a:p>
              <a:pPr algn="ctr">
                <a:lnSpc>
                  <a:spcPts val="1913"/>
                </a:lnSpc>
              </a:pPr>
              <a:endParaRPr lang="en-US" sz="2199" b="1" spc="-10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97178" y="6515127"/>
            <a:ext cx="2852758" cy="1671193"/>
            <a:chOff x="0" y="0"/>
            <a:chExt cx="751344" cy="4401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51344" cy="440150"/>
            </a:xfrm>
            <a:custGeom>
              <a:avLst/>
              <a:gdLst/>
              <a:ahLst/>
              <a:cxnLst/>
              <a:rect l="l" t="t" r="r" b="b"/>
              <a:pathLst>
                <a:path w="751344" h="440150">
                  <a:moveTo>
                    <a:pt x="0" y="0"/>
                  </a:moveTo>
                  <a:lnTo>
                    <a:pt x="751344" y="0"/>
                  </a:lnTo>
                  <a:lnTo>
                    <a:pt x="751344" y="440150"/>
                  </a:lnTo>
                  <a:lnTo>
                    <a:pt x="0" y="44015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57150"/>
              <a:ext cx="751344" cy="383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3"/>
                </a:lnSpc>
              </a:pPr>
              <a:r>
                <a:rPr lang="en-US" sz="2199" b="1" spc="-10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📦 Total Pesanan</a:t>
              </a:r>
            </a:p>
            <a:p>
              <a:pPr algn="ctr">
                <a:lnSpc>
                  <a:spcPts val="1913"/>
                </a:lnSpc>
              </a:pPr>
              <a:endParaRPr lang="en-US" sz="2199" b="1" spc="-10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  <a:p>
              <a:pPr algn="ctr">
                <a:lnSpc>
                  <a:spcPts val="1913"/>
                </a:lnSpc>
              </a:pPr>
              <a:r>
                <a:rPr lang="en-US" sz="2199" b="1" spc="-10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20848 Transaksi</a:t>
              </a:r>
            </a:p>
            <a:p>
              <a:pPr algn="ctr">
                <a:lnSpc>
                  <a:spcPts val="1913"/>
                </a:lnSpc>
              </a:pPr>
              <a:endParaRPr lang="en-US" sz="2199" b="1" spc="-10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59510" y="6515127"/>
            <a:ext cx="2852758" cy="1671193"/>
            <a:chOff x="0" y="0"/>
            <a:chExt cx="751344" cy="440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51344" cy="440150"/>
            </a:xfrm>
            <a:custGeom>
              <a:avLst/>
              <a:gdLst/>
              <a:ahLst/>
              <a:cxnLst/>
              <a:rect l="l" t="t" r="r" b="b"/>
              <a:pathLst>
                <a:path w="751344" h="440150">
                  <a:moveTo>
                    <a:pt x="0" y="0"/>
                  </a:moveTo>
                  <a:lnTo>
                    <a:pt x="751344" y="0"/>
                  </a:lnTo>
                  <a:lnTo>
                    <a:pt x="751344" y="440150"/>
                  </a:lnTo>
                  <a:lnTo>
                    <a:pt x="0" y="44015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751344" cy="383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3"/>
                </a:lnSpc>
              </a:pPr>
              <a:r>
                <a:rPr lang="en-US" sz="2199" b="1" spc="-10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💰 Total Keuntungan</a:t>
              </a:r>
            </a:p>
            <a:p>
              <a:pPr algn="ctr">
                <a:lnSpc>
                  <a:spcPts val="1913"/>
                </a:lnSpc>
              </a:pPr>
              <a:endParaRPr lang="en-US" sz="2199" b="1" spc="-10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  <a:p>
              <a:pPr algn="ctr">
                <a:lnSpc>
                  <a:spcPts val="1913"/>
                </a:lnSpc>
              </a:pPr>
              <a:r>
                <a:rPr lang="en-US" sz="2199" b="1" spc="-10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Rp 969,298,706</a:t>
              </a:r>
            </a:p>
            <a:p>
              <a:pPr algn="ctr">
                <a:lnSpc>
                  <a:spcPts val="1913"/>
                </a:lnSpc>
              </a:pPr>
              <a:endParaRPr lang="en-US" sz="2199" b="1" spc="-10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21843" y="6515127"/>
            <a:ext cx="2852758" cy="1671193"/>
            <a:chOff x="0" y="0"/>
            <a:chExt cx="751344" cy="4401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51344" cy="440150"/>
            </a:xfrm>
            <a:custGeom>
              <a:avLst/>
              <a:gdLst/>
              <a:ahLst/>
              <a:cxnLst/>
              <a:rect l="l" t="t" r="r" b="b"/>
              <a:pathLst>
                <a:path w="751344" h="440150">
                  <a:moveTo>
                    <a:pt x="0" y="0"/>
                  </a:moveTo>
                  <a:lnTo>
                    <a:pt x="751344" y="0"/>
                  </a:lnTo>
                  <a:lnTo>
                    <a:pt x="751344" y="440150"/>
                  </a:lnTo>
                  <a:lnTo>
                    <a:pt x="0" y="440150"/>
                  </a:lnTo>
                  <a:close/>
                </a:path>
              </a:pathLst>
            </a:custGeom>
            <a:solidFill>
              <a:srgbClr val="8D57F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751344" cy="383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3"/>
                </a:lnSpc>
              </a:pPr>
              <a:r>
                <a:rPr lang="en-US" sz="2199" b="1" spc="-10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💰 Rata-rata Transaksi</a:t>
              </a:r>
            </a:p>
            <a:p>
              <a:pPr algn="ctr">
                <a:lnSpc>
                  <a:spcPts val="1913"/>
                </a:lnSpc>
              </a:pPr>
              <a:endParaRPr lang="en-US" sz="2199" b="1" spc="-10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  <a:p>
              <a:pPr algn="ctr">
                <a:lnSpc>
                  <a:spcPts val="1913"/>
                </a:lnSpc>
              </a:pPr>
              <a:r>
                <a:rPr lang="en-US" sz="2199" b="1" spc="-107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Rp 50,683</a:t>
              </a:r>
            </a:p>
            <a:p>
              <a:pPr algn="ctr">
                <a:lnSpc>
                  <a:spcPts val="1913"/>
                </a:lnSpc>
              </a:pPr>
              <a:endParaRPr lang="en-US" sz="2199" b="1" spc="-10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  <a:p>
              <a:pPr algn="ctr">
                <a:lnSpc>
                  <a:spcPts val="1913"/>
                </a:lnSpc>
              </a:pPr>
              <a:endParaRPr lang="en-US" sz="2199" b="1" spc="-10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17300" y="2435117"/>
            <a:ext cx="16230600" cy="3279826"/>
          </a:xfrm>
          <a:custGeom>
            <a:avLst/>
            <a:gdLst/>
            <a:ahLst/>
            <a:cxnLst/>
            <a:rect l="l" t="t" r="r" b="b"/>
            <a:pathLst>
              <a:path w="16230600" h="3279826">
                <a:moveTo>
                  <a:pt x="0" y="0"/>
                </a:moveTo>
                <a:lnTo>
                  <a:pt x="16230600" y="0"/>
                </a:lnTo>
                <a:lnTo>
                  <a:pt x="16230600" y="3279825"/>
                </a:lnTo>
                <a:lnTo>
                  <a:pt x="0" y="327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432983" y="954148"/>
            <a:ext cx="5853053" cy="827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Gambaran Data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700" y="8692094"/>
            <a:ext cx="729305" cy="566206"/>
          </a:xfrm>
          <a:custGeom>
            <a:avLst/>
            <a:gdLst/>
            <a:ahLst/>
            <a:cxnLst/>
            <a:rect l="l" t="t" r="r" b="b"/>
            <a:pathLst>
              <a:path w="729305" h="566206">
                <a:moveTo>
                  <a:pt x="0" y="0"/>
                </a:moveTo>
                <a:lnTo>
                  <a:pt x="729305" y="0"/>
                </a:lnTo>
                <a:lnTo>
                  <a:pt x="729305" y="566206"/>
                </a:lnTo>
                <a:lnTo>
                  <a:pt x="0" y="566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6822619" y="1028700"/>
            <a:ext cx="436681" cy="339023"/>
          </a:xfrm>
          <a:custGeom>
            <a:avLst/>
            <a:gdLst/>
            <a:ahLst/>
            <a:cxnLst/>
            <a:rect l="l" t="t" r="r" b="b"/>
            <a:pathLst>
              <a:path w="436681" h="339023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24656" y="372477"/>
            <a:ext cx="735454" cy="437261"/>
          </a:xfrm>
          <a:custGeom>
            <a:avLst/>
            <a:gdLst/>
            <a:ahLst/>
            <a:cxnLst/>
            <a:rect l="l" t="t" r="r" b="b"/>
            <a:pathLst>
              <a:path w="735454" h="437261">
                <a:moveTo>
                  <a:pt x="0" y="0"/>
                </a:moveTo>
                <a:lnTo>
                  <a:pt x="735454" y="0"/>
                </a:lnTo>
                <a:lnTo>
                  <a:pt x="735454" y="437261"/>
                </a:lnTo>
                <a:lnTo>
                  <a:pt x="0" y="437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282678"/>
            <a:ext cx="5460181" cy="5073004"/>
          </a:xfrm>
          <a:custGeom>
            <a:avLst/>
            <a:gdLst/>
            <a:ahLst/>
            <a:cxnLst/>
            <a:rect l="l" t="t" r="r" b="b"/>
            <a:pathLst>
              <a:path w="5460181" h="5073004">
                <a:moveTo>
                  <a:pt x="0" y="0"/>
                </a:moveTo>
                <a:lnTo>
                  <a:pt x="5460181" y="0"/>
                </a:lnTo>
                <a:lnTo>
                  <a:pt x="5460181" y="5073004"/>
                </a:lnTo>
                <a:lnTo>
                  <a:pt x="0" y="5073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241449" y="1028700"/>
            <a:ext cx="10017851" cy="2716820"/>
            <a:chOff x="0" y="0"/>
            <a:chExt cx="13357135" cy="3622426"/>
          </a:xfrm>
        </p:grpSpPr>
        <p:sp>
          <p:nvSpPr>
            <p:cNvPr id="4" name="TextBox 4"/>
            <p:cNvSpPr txBox="1"/>
            <p:nvPr/>
          </p:nvSpPr>
          <p:spPr>
            <a:xfrm>
              <a:off x="0" y="180975"/>
              <a:ext cx="8312077" cy="926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85"/>
                </a:lnSpc>
              </a:pPr>
              <a:r>
                <a:rPr lang="en-US" sz="5500" spc="-269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Tentang Data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411356"/>
              <a:ext cx="13357135" cy="2211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59"/>
                </a:lnSpc>
              </a:pPr>
              <a:r>
                <a:rPr lang="en-US" sz="2399" spc="-117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Dataset ini merupakan kumpulan transaksi e-commerce di Indonesia (Desember 2023 – November 2025), mencakup informasi lengkap dari tingkat pesanan seperti kuantitas produk, jumlah pengembalian, diskon, metode pendapatan, hingga keuntungan.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41449" y="4532556"/>
            <a:ext cx="10017851" cy="3059796"/>
            <a:chOff x="0" y="180975"/>
            <a:chExt cx="13357135" cy="4079729"/>
          </a:xfrm>
        </p:grpSpPr>
        <p:sp>
          <p:nvSpPr>
            <p:cNvPr id="7" name="TextBox 7"/>
            <p:cNvSpPr txBox="1"/>
            <p:nvPr/>
          </p:nvSpPr>
          <p:spPr>
            <a:xfrm>
              <a:off x="0" y="180975"/>
              <a:ext cx="8312077" cy="926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85"/>
                </a:lnSpc>
              </a:pPr>
              <a:r>
                <a:rPr lang="en-US" sz="5500" spc="-269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Tujuan Analisis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400775"/>
              <a:ext cx="13357135" cy="2859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58" lvl="1" indent="-259079" algn="l">
                <a:lnSpc>
                  <a:spcPts val="3359"/>
                </a:lnSpc>
                <a:buFont typeface="Arial"/>
                <a:buChar char="•"/>
              </a:pP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Mengidentifikasi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pola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musiman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dan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faktor-faktor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yang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mempengaruhi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penjualan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  <a:p>
              <a:pPr marL="518158" lvl="1" indent="-259079" algn="l">
                <a:lnSpc>
                  <a:spcPts val="3359"/>
                </a:lnSpc>
                <a:buFont typeface="Arial"/>
                <a:buChar char="•"/>
              </a:pP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Menganalisis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status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pesanan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pembatalan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dan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pengembalian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barang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  <a:p>
              <a:pPr marL="518158" lvl="1" indent="-259079" algn="l">
                <a:lnSpc>
                  <a:spcPts val="3359"/>
                </a:lnSpc>
                <a:buFont typeface="Arial"/>
                <a:buChar char="•"/>
              </a:pP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Mengidentifikasi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produk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provinsi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dan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kota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paling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potensial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  <a:p>
              <a:pPr marL="518158" lvl="1" indent="-259079" algn="l">
                <a:lnSpc>
                  <a:spcPts val="3359"/>
                </a:lnSpc>
                <a:buFont typeface="Arial"/>
                <a:buChar char="•"/>
              </a:pP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Menganalisis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dampak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diskon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terhadap</a:t>
              </a:r>
              <a:r>
                <a:rPr lang="en-US" sz="2399" spc="-11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volume </a:t>
              </a:r>
              <a:r>
                <a:rPr lang="en-US" sz="2399" spc="-117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pembelian</a:t>
              </a:r>
              <a:endParaRPr lang="en-US" sz="2399" spc="-117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1244" y="659038"/>
            <a:ext cx="361435" cy="361435"/>
          </a:xfrm>
          <a:custGeom>
            <a:avLst/>
            <a:gdLst/>
            <a:ahLst/>
            <a:cxnLst/>
            <a:rect l="l" t="t" r="r" b="b"/>
            <a:pathLst>
              <a:path w="361435" h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7383020" y="681450"/>
            <a:ext cx="436681" cy="339023"/>
          </a:xfrm>
          <a:custGeom>
            <a:avLst/>
            <a:gdLst/>
            <a:ahLst/>
            <a:cxnLst/>
            <a:rect l="l" t="t" r="r" b="b"/>
            <a:pathLst>
              <a:path w="436681" h="339023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3382" y="1873075"/>
            <a:ext cx="8833017" cy="5023025"/>
          </a:xfrm>
          <a:custGeom>
            <a:avLst/>
            <a:gdLst/>
            <a:ahLst/>
            <a:cxnLst/>
            <a:rect l="l" t="t" r="r" b="b"/>
            <a:pathLst>
              <a:path w="8041367" h="3946984">
                <a:moveTo>
                  <a:pt x="0" y="0"/>
                </a:moveTo>
                <a:lnTo>
                  <a:pt x="8041367" y="0"/>
                </a:lnTo>
                <a:lnTo>
                  <a:pt x="8041367" y="3946984"/>
                </a:lnTo>
                <a:lnTo>
                  <a:pt x="0" y="3946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2935713" y="580418"/>
            <a:ext cx="12614434" cy="563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Analisis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Tren Penjualan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43884" y="1562100"/>
            <a:ext cx="8375817" cy="5636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b="1" dirty="0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Insight: </a:t>
            </a:r>
          </a:p>
          <a:p>
            <a:pPr marL="453406" lvl="1" indent="-226703" algn="just">
              <a:lnSpc>
                <a:spcPts val="2940"/>
              </a:lnSpc>
              <a:buFont typeface="Arial"/>
              <a:buChar char="•"/>
            </a:pP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Terlihat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pola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bahwa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penjualan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mulai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meningkat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sejak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pertengahan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tahun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mencapai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puncaknya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September 2024 (Rp71,19 </a:t>
            </a:r>
            <a:r>
              <a:rPr lang="en-ID" sz="2200" b="1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juta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Oktober 2025 (Rp61,46 </a:t>
            </a:r>
            <a:r>
              <a:rPr lang="en-ID" sz="2200" b="1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juta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menunjukkan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periode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tersebut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merupakan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musim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permintaan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tertinggi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Saran: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Mulailah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meningkatkan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aktivitas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promosi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sejak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Mei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Juni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serta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siapkan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stok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kapasitas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operasional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lebih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awal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agar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memenuhi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lonjakan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permintaan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tanpa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mengalami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kehabisan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stok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453406" lvl="1" indent="-226703" algn="just">
              <a:lnSpc>
                <a:spcPts val="2940"/>
              </a:lnSpc>
              <a:buFont typeface="Arial"/>
              <a:buChar char="•"/>
            </a:pP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Penjualan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cenderung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menurun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awal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tahun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terutama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Januari </a:t>
            </a:r>
            <a:r>
              <a:rPr lang="en-ID" sz="2200" b="1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hingga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Mei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titik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terendah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terjadi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ID" sz="2200" b="1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Februari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2024 (21,1 Juta)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Mei 2025 (Rp29,14 </a:t>
            </a:r>
            <a:r>
              <a:rPr lang="en-ID" sz="2200" b="1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juta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, yang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mengindikasikan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melemahnya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aktivitas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belanja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setelah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periode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libur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akhir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tahun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Saran: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Jalankan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program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promosi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khusus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awal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tahun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seperti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diskon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, voucher,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bundling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produk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menjaga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minat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beli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pelanggan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mengurangi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penurunan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penjualan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2200" dirty="0">
              <a:solidFill>
                <a:srgbClr val="00000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2881" y="781376"/>
            <a:ext cx="361435" cy="361435"/>
          </a:xfrm>
          <a:custGeom>
            <a:avLst/>
            <a:gdLst/>
            <a:ahLst/>
            <a:cxnLst/>
            <a:rect l="l" t="t" r="r" b="b"/>
            <a:pathLst>
              <a:path w="361435" h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7262186" y="897289"/>
            <a:ext cx="436681" cy="339023"/>
          </a:xfrm>
          <a:custGeom>
            <a:avLst/>
            <a:gdLst/>
            <a:ahLst/>
            <a:cxnLst/>
            <a:rect l="l" t="t" r="r" b="b"/>
            <a:pathLst>
              <a:path w="436681" h="339023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9808" y="1760735"/>
            <a:ext cx="6071147" cy="5388448"/>
          </a:xfrm>
          <a:custGeom>
            <a:avLst/>
            <a:gdLst/>
            <a:ahLst/>
            <a:cxnLst/>
            <a:rect l="l" t="t" r="r" b="b"/>
            <a:pathLst>
              <a:path w="6071147" h="5388448">
                <a:moveTo>
                  <a:pt x="0" y="0"/>
                </a:moveTo>
                <a:lnTo>
                  <a:pt x="6071147" y="0"/>
                </a:lnTo>
                <a:lnTo>
                  <a:pt x="6071147" y="5388447"/>
                </a:lnTo>
                <a:lnTo>
                  <a:pt x="0" y="53884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2514600" y="601312"/>
            <a:ext cx="12668726" cy="563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Analisis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Status </a:t>
            </a: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Pemesanan</a:t>
            </a:r>
            <a:endParaRPr lang="en-US" sz="3000" dirty="0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010400" y="1736490"/>
            <a:ext cx="10688467" cy="4521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200" b="1" dirty="0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Insight: </a:t>
            </a:r>
          </a:p>
          <a:p>
            <a:pPr marL="453406" lvl="1" indent="-226703" algn="just">
              <a:lnSpc>
                <a:spcPts val="2940"/>
              </a:lnSpc>
              <a:buFont typeface="Arial"/>
              <a:buChar char="•"/>
            </a:pP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Dengan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total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transaksi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20.848 </a:t>
            </a:r>
            <a:r>
              <a:rPr lang="en-US" sz="2200" b="1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pesanan</a:t>
            </a:r>
            <a:r>
              <a:rPr lang="en-US" sz="2200" b="1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sebanyak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ID" sz="2200" b="1" dirty="0">
                <a:latin typeface="+mj-lt"/>
              </a:rPr>
              <a:t>17.861 </a:t>
            </a:r>
            <a:r>
              <a:rPr lang="en-ID" sz="2200" b="1" dirty="0" err="1">
                <a:latin typeface="+mj-lt"/>
              </a:rPr>
              <a:t>pesanan</a:t>
            </a:r>
            <a:r>
              <a:rPr lang="en-US" sz="2200" b="1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(85,7%)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berhasil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diselesaikan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dan </a:t>
            </a:r>
            <a:r>
              <a:rPr lang="en-US" sz="2200" b="1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157 </a:t>
            </a:r>
            <a:r>
              <a:rPr lang="en-US" sz="2200" b="1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pesanan</a:t>
            </a:r>
            <a:r>
              <a:rPr lang="en-US" sz="2200" b="1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(0,8%)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dikembalikan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menunjukkan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bahwa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sebagian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besar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transaksi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dapat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diproses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hingga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barang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diterima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pelanggan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dengan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baik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. </a:t>
            </a:r>
            <a:r>
              <a:rPr lang="en-US" sz="2200" b="1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Saran: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Pertahankan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standar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operasional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yang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sudah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berjalan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seperti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menjaga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kualitas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produk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ketepatan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pengemasan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, dan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ketepatan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waktu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pengiriman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agar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tingkat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penyelesaian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tetap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tinggi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dan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mengurangi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barang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dikembalikan</a:t>
            </a:r>
            <a:r>
              <a:rPr lang="en-US" sz="2200" dirty="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.</a:t>
            </a:r>
          </a:p>
          <a:p>
            <a:pPr marL="453406" lvl="1" indent="-226703" algn="just">
              <a:lnSpc>
                <a:spcPts val="2940"/>
              </a:lnSpc>
              <a:buFont typeface="Arial"/>
              <a:buChar char="•"/>
            </a:pP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Sebanyak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2.830 </a:t>
            </a:r>
            <a:r>
              <a:rPr lang="en-ID" sz="2200" b="1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pesanan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(13,6%)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dibatalkan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, yang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berarti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sekitar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1 </a:t>
            </a:r>
            <a:r>
              <a:rPr lang="en-ID" sz="2200" b="1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dari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7 </a:t>
            </a:r>
            <a:r>
              <a:rPr lang="en-ID" sz="2200" b="1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pesanan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berlanjut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hingga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selesai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sehingga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berpotensi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mengurangi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pendapatan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mengganggu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perencanaan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stok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ID" sz="22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Saran: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Lakukan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konfirmasi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ulang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sebelum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pesanan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diproses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pemberian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insentif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kecil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berupa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diskon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10%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melanjutkan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pesanan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dalam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jumlah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besar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mempercepat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waktu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pemrosesan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agar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pelanggan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membatalkan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transaksi</a:t>
            </a:r>
            <a:r>
              <a:rPr lang="en-ID" sz="2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2200" dirty="0">
              <a:solidFill>
                <a:srgbClr val="00000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46677"/>
            <a:ext cx="361435" cy="361435"/>
          </a:xfrm>
          <a:custGeom>
            <a:avLst/>
            <a:gdLst/>
            <a:ahLst/>
            <a:cxnLst/>
            <a:rect l="l" t="t" r="r" b="b"/>
            <a:pathLst>
              <a:path w="361435" h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822619" y="1028700"/>
            <a:ext cx="436681" cy="339023"/>
          </a:xfrm>
          <a:custGeom>
            <a:avLst/>
            <a:gdLst/>
            <a:ahLst/>
            <a:cxnLst/>
            <a:rect l="l" t="t" r="r" b="b"/>
            <a:pathLst>
              <a:path w="436681" h="339023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05228" y="1930225"/>
            <a:ext cx="8281572" cy="5042075"/>
          </a:xfrm>
          <a:custGeom>
            <a:avLst/>
            <a:gdLst/>
            <a:ahLst/>
            <a:cxnLst/>
            <a:rect l="l" t="t" r="r" b="b"/>
            <a:pathLst>
              <a:path w="8738772" h="5058450">
                <a:moveTo>
                  <a:pt x="0" y="0"/>
                </a:moveTo>
                <a:lnTo>
                  <a:pt x="8738772" y="0"/>
                </a:lnTo>
                <a:lnTo>
                  <a:pt x="8738772" y="5058450"/>
                </a:lnTo>
                <a:lnTo>
                  <a:pt x="0" y="5058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4267200" y="601312"/>
            <a:ext cx="10033694" cy="563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Top 10 </a:t>
            </a: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Produk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Terlaris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dan </a:t>
            </a: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Jumlah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Pengembalian</a:t>
            </a:r>
            <a:endParaRPr lang="en-US" sz="3000" dirty="0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839200" y="1873075"/>
            <a:ext cx="8985417" cy="6015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Insight: </a:t>
            </a:r>
          </a:p>
          <a:p>
            <a:pPr marL="453406" lvl="1" indent="-226703" algn="just">
              <a:lnSpc>
                <a:spcPts val="2940"/>
              </a:lnSpc>
              <a:buFont typeface="Arial"/>
              <a:buChar char="•"/>
            </a:pPr>
            <a:r>
              <a:rPr lang="en-ID" sz="2200" b="1" dirty="0" err="1"/>
              <a:t>Nampan</a:t>
            </a:r>
            <a:r>
              <a:rPr lang="en-ID" sz="2200" b="1" dirty="0"/>
              <a:t>/Tray</a:t>
            </a:r>
            <a:r>
              <a:rPr lang="en-ID" sz="2200" dirty="0"/>
              <a:t> </a:t>
            </a:r>
            <a:r>
              <a:rPr lang="en-ID" sz="2200" dirty="0" err="1"/>
              <a:t>menjadi</a:t>
            </a:r>
            <a:r>
              <a:rPr lang="en-ID" sz="2200" dirty="0"/>
              <a:t> </a:t>
            </a:r>
            <a:r>
              <a:rPr lang="en-ID" sz="2200" dirty="0" err="1"/>
              <a:t>kategori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penjualan</a:t>
            </a:r>
            <a:r>
              <a:rPr lang="en-ID" sz="2200" dirty="0"/>
              <a:t> </a:t>
            </a:r>
            <a:r>
              <a:rPr lang="en-ID" sz="2200" dirty="0" err="1"/>
              <a:t>tertinggi</a:t>
            </a:r>
            <a:r>
              <a:rPr lang="en-ID" sz="2200" dirty="0"/>
              <a:t> (</a:t>
            </a:r>
            <a:r>
              <a:rPr lang="en-ID" sz="2200" b="1" dirty="0"/>
              <a:t>9.942 unit</a:t>
            </a:r>
            <a:r>
              <a:rPr lang="en-ID" sz="2200" dirty="0"/>
              <a:t>) dan </a:t>
            </a:r>
            <a:r>
              <a:rPr lang="en-ID" sz="2200" dirty="0" err="1"/>
              <a:t>hanya</a:t>
            </a:r>
            <a:r>
              <a:rPr lang="en-ID" sz="2200" dirty="0"/>
              <a:t> </a:t>
            </a:r>
            <a:r>
              <a:rPr lang="en-ID" sz="2200" b="1" dirty="0"/>
              <a:t>98 unit</a:t>
            </a:r>
            <a:r>
              <a:rPr lang="en-ID" sz="2200" dirty="0"/>
              <a:t> yang </a:t>
            </a:r>
            <a:r>
              <a:rPr lang="en-ID" sz="2200" dirty="0" err="1"/>
              <a:t>dikembalikan</a:t>
            </a:r>
            <a:r>
              <a:rPr lang="en-ID" sz="2200" dirty="0"/>
              <a:t> (</a:t>
            </a:r>
            <a:r>
              <a:rPr lang="en-ID" sz="2200" dirty="0" err="1"/>
              <a:t>sekitar</a:t>
            </a:r>
            <a:r>
              <a:rPr lang="en-ID" sz="2200" dirty="0"/>
              <a:t> </a:t>
            </a:r>
            <a:r>
              <a:rPr lang="en-ID" sz="2200" b="1" dirty="0"/>
              <a:t>1,0%</a:t>
            </a:r>
            <a:r>
              <a:rPr lang="en-ID" sz="2200" dirty="0"/>
              <a:t>), </a:t>
            </a:r>
            <a:r>
              <a:rPr lang="en-ID" sz="2200" dirty="0" err="1"/>
              <a:t>sedangkan</a:t>
            </a:r>
            <a:r>
              <a:rPr lang="en-ID" sz="2200" dirty="0"/>
              <a:t> </a:t>
            </a:r>
            <a:r>
              <a:rPr lang="en-ID" sz="2200" dirty="0" err="1"/>
              <a:t>kategori</a:t>
            </a:r>
            <a:r>
              <a:rPr lang="en-ID" sz="2200" dirty="0"/>
              <a:t> </a:t>
            </a:r>
            <a:r>
              <a:rPr lang="en-ID" sz="2200" dirty="0" err="1"/>
              <a:t>seperti</a:t>
            </a:r>
            <a:r>
              <a:rPr lang="en-ID" sz="2200" dirty="0"/>
              <a:t> </a:t>
            </a:r>
            <a:r>
              <a:rPr lang="en-ID" sz="2200" b="1" dirty="0" err="1"/>
              <a:t>Mangkok</a:t>
            </a:r>
            <a:r>
              <a:rPr lang="en-ID" sz="2200" b="1" dirty="0"/>
              <a:t> Sambal/Saus</a:t>
            </a:r>
            <a:r>
              <a:rPr lang="en-ID" sz="2200" dirty="0"/>
              <a:t> dan </a:t>
            </a:r>
            <a:r>
              <a:rPr lang="en-ID" sz="2200" b="1" dirty="0" err="1"/>
              <a:t>Celengan</a:t>
            </a:r>
            <a:r>
              <a:rPr lang="en-ID" sz="2200" dirty="0"/>
              <a:t> </a:t>
            </a:r>
            <a:r>
              <a:rPr lang="en-ID" sz="2200" dirty="0" err="1"/>
              <a:t>memiliki</a:t>
            </a:r>
            <a:r>
              <a:rPr lang="en-ID" sz="2200" dirty="0"/>
              <a:t> </a:t>
            </a:r>
            <a:r>
              <a:rPr lang="en-ID" sz="2200" dirty="0" err="1"/>
              <a:t>tingkat</a:t>
            </a:r>
            <a:r>
              <a:rPr lang="en-ID" sz="2200" dirty="0"/>
              <a:t> </a:t>
            </a:r>
            <a:r>
              <a:rPr lang="en-ID" sz="2200" dirty="0" err="1"/>
              <a:t>pengembalian</a:t>
            </a:r>
            <a:r>
              <a:rPr lang="en-ID" sz="2200" dirty="0"/>
              <a:t> yang </a:t>
            </a:r>
            <a:r>
              <a:rPr lang="en-ID" sz="2200" dirty="0" err="1"/>
              <a:t>jauh</a:t>
            </a:r>
            <a:r>
              <a:rPr lang="en-ID" sz="2200" dirty="0"/>
              <a:t> </a:t>
            </a:r>
            <a:r>
              <a:rPr lang="en-ID" sz="2200" dirty="0" err="1"/>
              <a:t>lebih</a:t>
            </a:r>
            <a:r>
              <a:rPr lang="en-ID" sz="2200" dirty="0"/>
              <a:t> </a:t>
            </a:r>
            <a:r>
              <a:rPr lang="en-ID" sz="2200" dirty="0" err="1"/>
              <a:t>rendah</a:t>
            </a:r>
            <a:r>
              <a:rPr lang="en-ID" sz="2200" dirty="0"/>
              <a:t> (&lt;0,2%). </a:t>
            </a:r>
            <a:r>
              <a:rPr lang="en-ID" sz="2200" b="1" dirty="0"/>
              <a:t>Saran:</a:t>
            </a:r>
            <a:r>
              <a:rPr lang="en-ID" sz="2200" dirty="0"/>
              <a:t> </a:t>
            </a:r>
            <a:r>
              <a:rPr lang="en-ID" sz="2200" dirty="0" err="1"/>
              <a:t>Pertahankan</a:t>
            </a:r>
            <a:r>
              <a:rPr lang="en-ID" sz="2200" dirty="0"/>
              <a:t> </a:t>
            </a:r>
            <a:r>
              <a:rPr lang="en-ID" sz="2200" dirty="0" err="1"/>
              <a:t>kualitas</a:t>
            </a:r>
            <a:r>
              <a:rPr lang="en-ID" sz="2200" dirty="0"/>
              <a:t> </a:t>
            </a:r>
            <a:r>
              <a:rPr lang="en-ID" sz="2200" dirty="0" err="1"/>
              <a:t>produk</a:t>
            </a:r>
            <a:r>
              <a:rPr lang="en-ID" sz="2200" dirty="0"/>
              <a:t> pada </a:t>
            </a:r>
            <a:r>
              <a:rPr lang="en-ID" sz="2200" dirty="0" err="1"/>
              <a:t>kategori</a:t>
            </a:r>
            <a:r>
              <a:rPr lang="en-ID" sz="2200" dirty="0"/>
              <a:t> </a:t>
            </a:r>
            <a:r>
              <a:rPr lang="en-ID" sz="2200" dirty="0" err="1"/>
              <a:t>terlaris</a:t>
            </a:r>
            <a:r>
              <a:rPr lang="en-ID" sz="2200" dirty="0"/>
              <a:t> dan </a:t>
            </a:r>
            <a:r>
              <a:rPr lang="en-ID" sz="2200" dirty="0" err="1"/>
              <a:t>prioritaskan</a:t>
            </a:r>
            <a:r>
              <a:rPr lang="en-ID" sz="2200" dirty="0"/>
              <a:t> </a:t>
            </a:r>
            <a:r>
              <a:rPr lang="en-ID" sz="2200" dirty="0" err="1"/>
              <a:t>stok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produk-produk</a:t>
            </a:r>
            <a:r>
              <a:rPr lang="en-ID" sz="2200" dirty="0"/>
              <a:t> </a:t>
            </a:r>
            <a:r>
              <a:rPr lang="en-ID" sz="2200" dirty="0" err="1"/>
              <a:t>tersebut</a:t>
            </a:r>
            <a:r>
              <a:rPr lang="en-ID" sz="2200" dirty="0"/>
              <a:t> </a:t>
            </a:r>
            <a:r>
              <a:rPr lang="en-ID" sz="2200" dirty="0" err="1"/>
              <a:t>karena</a:t>
            </a:r>
            <a:r>
              <a:rPr lang="en-ID" sz="2200" dirty="0"/>
              <a:t> </a:t>
            </a:r>
            <a:r>
              <a:rPr lang="en-ID" sz="2200" dirty="0" err="1"/>
              <a:t>terbukti</a:t>
            </a:r>
            <a:r>
              <a:rPr lang="en-ID" sz="2200" dirty="0"/>
              <a:t> </a:t>
            </a:r>
            <a:r>
              <a:rPr lang="en-ID" sz="2200" dirty="0" err="1"/>
              <a:t>memiliki</a:t>
            </a:r>
            <a:r>
              <a:rPr lang="en-ID" sz="2200" dirty="0"/>
              <a:t> </a:t>
            </a:r>
            <a:r>
              <a:rPr lang="en-ID" sz="2200" dirty="0" err="1"/>
              <a:t>permintaan</a:t>
            </a:r>
            <a:r>
              <a:rPr lang="en-ID" sz="2200" dirty="0"/>
              <a:t> </a:t>
            </a:r>
            <a:r>
              <a:rPr lang="en-ID" sz="2200" dirty="0" err="1"/>
              <a:t>tinggi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tingkat</a:t>
            </a:r>
            <a:r>
              <a:rPr lang="en-ID" sz="2200" dirty="0"/>
              <a:t> </a:t>
            </a:r>
            <a:r>
              <a:rPr lang="en-ID" sz="2200" dirty="0" err="1"/>
              <a:t>kepuasan</a:t>
            </a:r>
            <a:r>
              <a:rPr lang="en-ID" sz="2200" dirty="0"/>
              <a:t> </a:t>
            </a:r>
            <a:r>
              <a:rPr lang="en-ID" sz="2200" dirty="0" err="1"/>
              <a:t>pelanggan</a:t>
            </a:r>
            <a:r>
              <a:rPr lang="en-ID" sz="2200" dirty="0"/>
              <a:t> yang </a:t>
            </a:r>
            <a:r>
              <a:rPr lang="en-ID" sz="2200" dirty="0" err="1"/>
              <a:t>baik</a:t>
            </a:r>
            <a:r>
              <a:rPr lang="en-ID" sz="2200" dirty="0"/>
              <a:t>.</a:t>
            </a:r>
          </a:p>
          <a:p>
            <a:pPr marL="453406" lvl="1" indent="-226703" algn="just">
              <a:lnSpc>
                <a:spcPts val="2940"/>
              </a:lnSpc>
              <a:buFont typeface="Arial"/>
              <a:buChar char="•"/>
            </a:pPr>
            <a:r>
              <a:rPr lang="en-ID" sz="2400" dirty="0"/>
              <a:t>Lunch Box </a:t>
            </a:r>
            <a:r>
              <a:rPr lang="en-ID" sz="2400" dirty="0" err="1"/>
              <a:t>memiliki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pengembalian</a:t>
            </a:r>
            <a:r>
              <a:rPr lang="en-ID" sz="2400" dirty="0"/>
              <a:t> </a:t>
            </a:r>
            <a:r>
              <a:rPr lang="en-ID" sz="2400" dirty="0" err="1"/>
              <a:t>tertinggi</a:t>
            </a:r>
            <a:r>
              <a:rPr lang="en-ID" sz="2400" dirty="0"/>
              <a:t> (1.31%), </a:t>
            </a:r>
            <a:r>
              <a:rPr lang="en-ID" sz="2400" dirty="0" err="1"/>
              <a:t>sedangkan</a:t>
            </a:r>
            <a:r>
              <a:rPr lang="en-ID" sz="2400" dirty="0"/>
              <a:t> </a:t>
            </a:r>
            <a:r>
              <a:rPr lang="en-ID" sz="2400" dirty="0" err="1"/>
              <a:t>kategori</a:t>
            </a:r>
            <a:r>
              <a:rPr lang="en-ID" sz="2400" dirty="0"/>
              <a:t>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b="1" dirty="0" err="1"/>
              <a:t>Keranjang</a:t>
            </a:r>
            <a:r>
              <a:rPr lang="en-ID" sz="2400" b="1" dirty="0"/>
              <a:t>, </a:t>
            </a:r>
            <a:r>
              <a:rPr lang="en-ID" sz="2400" b="1" dirty="0" err="1"/>
              <a:t>Piring</a:t>
            </a:r>
            <a:r>
              <a:rPr lang="en-ID" sz="2400" b="1" dirty="0"/>
              <a:t>, </a:t>
            </a:r>
            <a:r>
              <a:rPr lang="en-ID" sz="2400" b="1" dirty="0" err="1"/>
              <a:t>Baskom</a:t>
            </a:r>
            <a:r>
              <a:rPr lang="en-ID" sz="2400" b="1" dirty="0"/>
              <a:t>/</a:t>
            </a:r>
            <a:r>
              <a:rPr lang="en-ID" sz="2400" b="1" dirty="0" err="1"/>
              <a:t>Mangkok</a:t>
            </a:r>
            <a:r>
              <a:rPr lang="en-ID" sz="2400" b="1" dirty="0"/>
              <a:t> Besar,</a:t>
            </a:r>
            <a:r>
              <a:rPr lang="en-ID" sz="2400" dirty="0"/>
              <a:t> dan </a:t>
            </a:r>
            <a:r>
              <a:rPr lang="en-ID" sz="2400" b="1" dirty="0"/>
              <a:t>Other</a:t>
            </a:r>
            <a:r>
              <a:rPr lang="en-ID" sz="2400" dirty="0"/>
              <a:t> </a:t>
            </a:r>
            <a:r>
              <a:rPr lang="en-ID" sz="2400" dirty="0" err="1"/>
              <a:t>memiliki</a:t>
            </a:r>
            <a:r>
              <a:rPr lang="en-ID" sz="2400" dirty="0"/>
              <a:t> volume </a:t>
            </a:r>
            <a:r>
              <a:rPr lang="en-ID" sz="2400" dirty="0" err="1"/>
              <a:t>penjualan</a:t>
            </a:r>
            <a:r>
              <a:rPr lang="en-ID" sz="2400" dirty="0"/>
              <a:t> yang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rendah</a:t>
            </a:r>
            <a:r>
              <a:rPr lang="en-ID" sz="2400" dirty="0"/>
              <a:t>, </a:t>
            </a:r>
            <a:r>
              <a:rPr lang="en-ID" sz="2400" dirty="0" err="1"/>
              <a:t>namun</a:t>
            </a:r>
            <a:r>
              <a:rPr lang="en-ID" sz="2400" dirty="0"/>
              <a:t> </a:t>
            </a:r>
            <a:r>
              <a:rPr lang="en-ID" sz="2400" dirty="0" err="1"/>
              <a:t>proporsi</a:t>
            </a:r>
            <a:r>
              <a:rPr lang="en-ID" sz="2400" dirty="0"/>
              <a:t> </a:t>
            </a:r>
            <a:r>
              <a:rPr lang="en-ID" sz="2400" dirty="0" err="1"/>
              <a:t>barang</a:t>
            </a:r>
            <a:r>
              <a:rPr lang="en-ID" sz="2400" dirty="0"/>
              <a:t> yang </a:t>
            </a:r>
            <a:r>
              <a:rPr lang="en-ID" sz="2400" dirty="0" err="1"/>
              <a:t>dikembalikan</a:t>
            </a:r>
            <a:r>
              <a:rPr lang="en-ID" sz="2400" dirty="0"/>
              <a:t> </a:t>
            </a:r>
            <a:r>
              <a:rPr lang="en-ID" sz="2400" dirty="0" err="1"/>
              <a:t>relatif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tinggi</a:t>
            </a:r>
            <a:r>
              <a:rPr lang="en-ID" sz="2400" dirty="0"/>
              <a:t> </a:t>
            </a:r>
            <a:r>
              <a:rPr lang="en-ID" sz="2400" dirty="0" err="1"/>
              <a:t>dibandingkan</a:t>
            </a:r>
            <a:r>
              <a:rPr lang="en-ID" sz="2400" dirty="0"/>
              <a:t>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kategori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penjualan</a:t>
            </a:r>
            <a:r>
              <a:rPr lang="en-ID" sz="2400" dirty="0"/>
              <a:t> </a:t>
            </a:r>
            <a:r>
              <a:rPr lang="en-ID" sz="2400" dirty="0" err="1"/>
              <a:t>besar</a:t>
            </a:r>
            <a:r>
              <a:rPr lang="en-ID" sz="2400" dirty="0"/>
              <a:t>. </a:t>
            </a:r>
            <a:r>
              <a:rPr lang="en-ID" sz="2400" b="1" dirty="0"/>
              <a:t>Saran:</a:t>
            </a:r>
            <a:r>
              <a:rPr lang="en-ID" sz="2400" dirty="0"/>
              <a:t> </a:t>
            </a:r>
            <a:r>
              <a:rPr lang="en-ID" sz="2400" dirty="0" err="1"/>
              <a:t>Perbaikan</a:t>
            </a:r>
            <a:r>
              <a:rPr lang="en-ID" sz="2400" dirty="0"/>
              <a:t> pada </a:t>
            </a:r>
            <a:r>
              <a:rPr lang="en-ID" sz="2400" dirty="0" err="1"/>
              <a:t>produk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return </a:t>
            </a:r>
            <a:r>
              <a:rPr lang="en-ID" sz="2400" dirty="0" err="1"/>
              <a:t>tinggi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kepuasan</a:t>
            </a:r>
            <a:r>
              <a:rPr lang="en-ID" sz="2400" dirty="0"/>
              <a:t> </a:t>
            </a:r>
            <a:r>
              <a:rPr lang="en-ID" sz="2400" dirty="0" err="1"/>
              <a:t>pelanggan</a:t>
            </a:r>
            <a:r>
              <a:rPr lang="en-ID" sz="2400" dirty="0"/>
              <a:t> </a:t>
            </a:r>
            <a:r>
              <a:rPr lang="en-ID" sz="2400" dirty="0" err="1"/>
              <a:t>sekaligus</a:t>
            </a:r>
            <a:r>
              <a:rPr lang="en-ID" sz="2400" dirty="0"/>
              <a:t> </a:t>
            </a:r>
            <a:r>
              <a:rPr lang="en-ID" sz="2400" dirty="0" err="1"/>
              <a:t>mengurangi</a:t>
            </a:r>
            <a:r>
              <a:rPr lang="en-ID" sz="2400" dirty="0"/>
              <a:t> </a:t>
            </a:r>
            <a:r>
              <a:rPr lang="en-ID" sz="2400" dirty="0" err="1"/>
              <a:t>biaya</a:t>
            </a:r>
            <a:r>
              <a:rPr lang="en-ID" sz="2400" dirty="0"/>
              <a:t> </a:t>
            </a:r>
            <a:r>
              <a:rPr lang="en-ID" sz="2400" dirty="0" err="1"/>
              <a:t>operasional</a:t>
            </a:r>
            <a:r>
              <a:rPr lang="en-ID" sz="2400" dirty="0"/>
              <a:t> </a:t>
            </a:r>
            <a:r>
              <a:rPr lang="en-ID" sz="2400" dirty="0" err="1"/>
              <a:t>akibat</a:t>
            </a:r>
            <a:r>
              <a:rPr lang="en-ID" sz="2400" dirty="0"/>
              <a:t> proses </a:t>
            </a:r>
            <a:r>
              <a:rPr lang="en-ID" sz="2400" dirty="0" err="1"/>
              <a:t>retur</a:t>
            </a:r>
            <a:r>
              <a:rPr lang="en-ID" sz="2400" dirty="0"/>
              <a:t>.</a:t>
            </a:r>
            <a:endParaRPr lang="en-US" sz="22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46677"/>
            <a:ext cx="361435" cy="361435"/>
          </a:xfrm>
          <a:custGeom>
            <a:avLst/>
            <a:gdLst/>
            <a:ahLst/>
            <a:cxnLst/>
            <a:rect l="l" t="t" r="r" b="b"/>
            <a:pathLst>
              <a:path w="361435" h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822619" y="1028700"/>
            <a:ext cx="436681" cy="339023"/>
          </a:xfrm>
          <a:custGeom>
            <a:avLst/>
            <a:gdLst/>
            <a:ahLst/>
            <a:cxnLst/>
            <a:rect l="l" t="t" r="r" b="b"/>
            <a:pathLst>
              <a:path w="436681" h="339023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159467" y="1226078"/>
            <a:ext cx="11479500" cy="4180839"/>
          </a:xfrm>
          <a:custGeom>
            <a:avLst/>
            <a:gdLst/>
            <a:ahLst/>
            <a:cxnLst/>
            <a:rect l="l" t="t" r="r" b="b"/>
            <a:pathLst>
              <a:path w="11821992" h="4362240">
                <a:moveTo>
                  <a:pt x="0" y="0"/>
                </a:moveTo>
                <a:lnTo>
                  <a:pt x="11821991" y="0"/>
                </a:lnTo>
                <a:lnTo>
                  <a:pt x="11821991" y="4362240"/>
                </a:lnTo>
                <a:lnTo>
                  <a:pt x="0" y="4362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4249579" y="408669"/>
            <a:ext cx="9788842" cy="496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Analisis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Penjualan </a:t>
            </a: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Berdasarkan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Wilayah: </a:t>
            </a: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Provinsi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&amp; Kota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9320" y="5552865"/>
            <a:ext cx="17401167" cy="3885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Insight: </a:t>
            </a:r>
          </a:p>
          <a:p>
            <a:pPr marL="388638" lvl="1" indent="-194319" algn="just">
              <a:lnSpc>
                <a:spcPts val="2520"/>
              </a:lnSpc>
              <a:buFont typeface="Arial"/>
              <a:buChar char="•"/>
            </a:pPr>
            <a:r>
              <a:rPr lang="en-ID" sz="2200" dirty="0"/>
              <a:t>Lima </a:t>
            </a:r>
            <a:r>
              <a:rPr lang="en-ID" sz="2200" dirty="0" err="1"/>
              <a:t>provinsi</a:t>
            </a:r>
            <a:r>
              <a:rPr lang="en-ID" sz="2200" dirty="0"/>
              <a:t> di Pulau Jawa (Jawa Barat, Banten, DKI Jakarta, Jawa Tengah, dan Jawa Timur) </a:t>
            </a:r>
            <a:r>
              <a:rPr lang="en-ID" sz="2200" dirty="0" err="1"/>
              <a:t>menyumbang</a:t>
            </a:r>
            <a:r>
              <a:rPr lang="en-ID" sz="2200" dirty="0"/>
              <a:t> </a:t>
            </a:r>
            <a:r>
              <a:rPr lang="en-ID" sz="2200" dirty="0" err="1"/>
              <a:t>sekitar</a:t>
            </a:r>
            <a:r>
              <a:rPr lang="en-ID" sz="2200" dirty="0"/>
              <a:t> </a:t>
            </a:r>
            <a:r>
              <a:rPr lang="en-ID" sz="2200" b="1" dirty="0"/>
              <a:t>81,4%</a:t>
            </a:r>
            <a:r>
              <a:rPr lang="en-ID" sz="2200" dirty="0"/>
              <a:t> </a:t>
            </a:r>
            <a:r>
              <a:rPr lang="en-ID" sz="2200" dirty="0" err="1"/>
              <a:t>dari</a:t>
            </a:r>
            <a:r>
              <a:rPr lang="en-ID" sz="2200" dirty="0"/>
              <a:t> total </a:t>
            </a:r>
            <a:r>
              <a:rPr lang="en-ID" sz="2200" dirty="0" err="1"/>
              <a:t>penjualan</a:t>
            </a:r>
            <a:r>
              <a:rPr lang="en-ID" sz="2200" dirty="0"/>
              <a:t> (±Rp783 </a:t>
            </a:r>
            <a:r>
              <a:rPr lang="en-ID" sz="2200" dirty="0" err="1"/>
              <a:t>juta</a:t>
            </a:r>
            <a:r>
              <a:rPr lang="en-ID" sz="2200" dirty="0"/>
              <a:t>), </a:t>
            </a:r>
            <a:r>
              <a:rPr lang="en-ID" sz="2200" dirty="0" err="1"/>
              <a:t>menunjukkan</a:t>
            </a:r>
            <a:r>
              <a:rPr lang="en-ID" sz="2200" dirty="0"/>
              <a:t> </a:t>
            </a:r>
            <a:r>
              <a:rPr lang="en-ID" sz="2200" dirty="0" err="1"/>
              <a:t>bahwa</a:t>
            </a:r>
            <a:r>
              <a:rPr lang="en-ID" sz="2200" dirty="0"/>
              <a:t> pasar </a:t>
            </a:r>
            <a:r>
              <a:rPr lang="en-ID" sz="2200" dirty="0" err="1"/>
              <a:t>utama</a:t>
            </a:r>
            <a:r>
              <a:rPr lang="en-ID" sz="2200" dirty="0"/>
              <a:t> </a:t>
            </a:r>
            <a:r>
              <a:rPr lang="en-ID" sz="2200" dirty="0" err="1"/>
              <a:t>perusahaan</a:t>
            </a:r>
            <a:r>
              <a:rPr lang="en-ID" sz="2200" dirty="0"/>
              <a:t> </a:t>
            </a:r>
            <a:r>
              <a:rPr lang="en-ID" sz="2200" dirty="0" err="1"/>
              <a:t>masih</a:t>
            </a:r>
            <a:r>
              <a:rPr lang="en-ID" sz="2200" dirty="0"/>
              <a:t> sangat </a:t>
            </a:r>
            <a:r>
              <a:rPr lang="en-ID" sz="2200" dirty="0" err="1"/>
              <a:t>bergantung</a:t>
            </a:r>
            <a:r>
              <a:rPr lang="en-ID" sz="2200" dirty="0"/>
              <a:t> pada wilayah Jawa. </a:t>
            </a:r>
            <a:r>
              <a:rPr lang="en-ID" sz="2200" b="1" dirty="0"/>
              <a:t>Saran:</a:t>
            </a:r>
            <a:r>
              <a:rPr lang="en-ID" sz="2200" dirty="0"/>
              <a:t> </a:t>
            </a:r>
            <a:r>
              <a:rPr lang="en-ID" sz="2200" dirty="0" err="1"/>
              <a:t>Pertahankan</a:t>
            </a:r>
            <a:r>
              <a:rPr lang="en-ID" sz="2200" dirty="0"/>
              <a:t> </a:t>
            </a:r>
            <a:r>
              <a:rPr lang="en-ID" sz="2200" dirty="0" err="1"/>
              <a:t>dominasi</a:t>
            </a:r>
            <a:r>
              <a:rPr lang="en-ID" sz="2200" dirty="0"/>
              <a:t> di wilayah </a:t>
            </a:r>
            <a:r>
              <a:rPr lang="en-ID" sz="2200" dirty="0" err="1"/>
              <a:t>ini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mengalokasikan</a:t>
            </a:r>
            <a:r>
              <a:rPr lang="en-ID" sz="2200" dirty="0"/>
              <a:t> </a:t>
            </a:r>
            <a:r>
              <a:rPr lang="en-ID" sz="2200" dirty="0" err="1"/>
              <a:t>sebagian</a:t>
            </a:r>
            <a:r>
              <a:rPr lang="en-ID" sz="2200" dirty="0"/>
              <a:t> </a:t>
            </a:r>
            <a:r>
              <a:rPr lang="en-ID" sz="2200" dirty="0" err="1"/>
              <a:t>besar</a:t>
            </a:r>
            <a:r>
              <a:rPr lang="en-ID" sz="2200" dirty="0"/>
              <a:t> </a:t>
            </a:r>
            <a:r>
              <a:rPr lang="en-ID" sz="2200" dirty="0" err="1"/>
              <a:t>anggaran</a:t>
            </a:r>
            <a:r>
              <a:rPr lang="en-ID" sz="2200" dirty="0"/>
              <a:t> </a:t>
            </a:r>
            <a:r>
              <a:rPr lang="en-ID" sz="2200" dirty="0" err="1"/>
              <a:t>pemasaran</a:t>
            </a:r>
            <a:r>
              <a:rPr lang="en-ID" sz="2200" dirty="0"/>
              <a:t> dan </a:t>
            </a:r>
            <a:r>
              <a:rPr lang="en-ID" sz="2200" dirty="0" err="1"/>
              <a:t>memastikan</a:t>
            </a:r>
            <a:r>
              <a:rPr lang="en-ID" sz="2200" dirty="0"/>
              <a:t> </a:t>
            </a:r>
            <a:r>
              <a:rPr lang="en-ID" sz="2200" dirty="0" err="1"/>
              <a:t>ketersediaan</a:t>
            </a:r>
            <a:r>
              <a:rPr lang="en-ID" sz="2200" dirty="0"/>
              <a:t> </a:t>
            </a:r>
            <a:r>
              <a:rPr lang="en-ID" sz="2200" dirty="0" err="1"/>
              <a:t>stok</a:t>
            </a:r>
            <a:r>
              <a:rPr lang="en-ID" sz="2200" dirty="0"/>
              <a:t>, </a:t>
            </a:r>
            <a:r>
              <a:rPr lang="en-ID" sz="2200" dirty="0" err="1"/>
              <a:t>namun</a:t>
            </a:r>
            <a:r>
              <a:rPr lang="en-ID" sz="2200" dirty="0"/>
              <a:t> </a:t>
            </a:r>
            <a:r>
              <a:rPr lang="en-ID" sz="2200" dirty="0" err="1"/>
              <a:t>tetap</a:t>
            </a:r>
            <a:r>
              <a:rPr lang="en-ID" sz="2200" dirty="0"/>
              <a:t> </a:t>
            </a:r>
            <a:r>
              <a:rPr lang="en-ID" sz="2200" dirty="0" err="1"/>
              <a:t>sisihkan</a:t>
            </a:r>
            <a:r>
              <a:rPr lang="en-ID" sz="2200" dirty="0"/>
              <a:t> </a:t>
            </a:r>
            <a:r>
              <a:rPr lang="en-ID" sz="2200" dirty="0" err="1"/>
              <a:t>anggaran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memperluas</a:t>
            </a:r>
            <a:r>
              <a:rPr lang="en-ID" sz="2200" dirty="0"/>
              <a:t> </a:t>
            </a:r>
            <a:r>
              <a:rPr lang="en-ID" sz="2200" dirty="0" err="1"/>
              <a:t>pangsa</a:t>
            </a:r>
            <a:r>
              <a:rPr lang="en-ID" sz="2200" dirty="0"/>
              <a:t> pasar di </a:t>
            </a:r>
            <a:r>
              <a:rPr lang="en-ID" sz="2200" dirty="0" err="1"/>
              <a:t>luar</a:t>
            </a:r>
            <a:r>
              <a:rPr lang="en-ID" sz="2200" dirty="0"/>
              <a:t> Jawa agar </a:t>
            </a:r>
            <a:r>
              <a:rPr lang="en-ID" sz="2200" dirty="0" err="1"/>
              <a:t>risiko</a:t>
            </a:r>
            <a:r>
              <a:rPr lang="en-ID" sz="2200" dirty="0"/>
              <a:t> </a:t>
            </a:r>
            <a:r>
              <a:rPr lang="en-ID" sz="2200" dirty="0" err="1"/>
              <a:t>ketergantungan</a:t>
            </a:r>
            <a:r>
              <a:rPr lang="en-ID" sz="2200" dirty="0"/>
              <a:t> </a:t>
            </a:r>
            <a:r>
              <a:rPr lang="en-ID" sz="2200" dirty="0" err="1"/>
              <a:t>dapat</a:t>
            </a:r>
            <a:r>
              <a:rPr lang="en-ID" sz="2200" dirty="0"/>
              <a:t> </a:t>
            </a:r>
            <a:r>
              <a:rPr lang="en-ID" sz="2200" dirty="0" err="1"/>
              <a:t>dikurangi</a:t>
            </a:r>
            <a:r>
              <a:rPr lang="en-ID" sz="2200" dirty="0"/>
              <a:t>.</a:t>
            </a:r>
          </a:p>
          <a:p>
            <a:pPr marL="388638" lvl="1" indent="-194319" algn="just">
              <a:lnSpc>
                <a:spcPts val="2520"/>
              </a:lnSpc>
              <a:buFont typeface="Arial"/>
              <a:buChar char="•"/>
            </a:pPr>
            <a:r>
              <a:rPr lang="en-ID" sz="2200" b="1" dirty="0" err="1"/>
              <a:t>Kabupaten</a:t>
            </a:r>
            <a:r>
              <a:rPr lang="en-ID" sz="2200" b="1" dirty="0"/>
              <a:t> Tangerang (Rp61 </a:t>
            </a:r>
            <a:r>
              <a:rPr lang="en-ID" sz="2200" b="1" dirty="0" err="1"/>
              <a:t>juta</a:t>
            </a:r>
            <a:r>
              <a:rPr lang="en-ID" sz="2200" b="1" dirty="0"/>
              <a:t>)</a:t>
            </a:r>
            <a:r>
              <a:rPr lang="en-ID" sz="2200" dirty="0"/>
              <a:t> dan </a:t>
            </a:r>
            <a:r>
              <a:rPr lang="en-ID" sz="2200" b="1" dirty="0" err="1"/>
              <a:t>Kabupaten</a:t>
            </a:r>
            <a:r>
              <a:rPr lang="en-ID" sz="2200" b="1" dirty="0"/>
              <a:t> Bogor (Rp58 </a:t>
            </a:r>
            <a:r>
              <a:rPr lang="en-ID" sz="2200" b="1" dirty="0" err="1"/>
              <a:t>juta</a:t>
            </a:r>
            <a:r>
              <a:rPr lang="en-ID" sz="2200" b="1" dirty="0"/>
              <a:t>)</a:t>
            </a:r>
            <a:r>
              <a:rPr lang="en-ID" sz="2200" dirty="0"/>
              <a:t> </a:t>
            </a:r>
            <a:r>
              <a:rPr lang="en-ID" sz="2200" dirty="0" err="1"/>
              <a:t>mencatat</a:t>
            </a:r>
            <a:r>
              <a:rPr lang="en-ID" sz="2200" dirty="0"/>
              <a:t> </a:t>
            </a:r>
            <a:r>
              <a:rPr lang="en-ID" sz="2200" dirty="0" err="1"/>
              <a:t>penjualan</a:t>
            </a:r>
            <a:r>
              <a:rPr lang="en-ID" sz="2200" dirty="0"/>
              <a:t> </a:t>
            </a:r>
            <a:r>
              <a:rPr lang="en-ID" sz="2200" dirty="0" err="1"/>
              <a:t>lebih</a:t>
            </a:r>
            <a:r>
              <a:rPr lang="en-ID" sz="2200" dirty="0"/>
              <a:t> </a:t>
            </a:r>
            <a:r>
              <a:rPr lang="en-ID" sz="2200" dirty="0" err="1"/>
              <a:t>tinggi</a:t>
            </a:r>
            <a:r>
              <a:rPr lang="en-ID" sz="2200" dirty="0"/>
              <a:t> </a:t>
            </a:r>
            <a:r>
              <a:rPr lang="en-ID" sz="2200" dirty="0" err="1"/>
              <a:t>dibandingkan</a:t>
            </a:r>
            <a:r>
              <a:rPr lang="en-ID" sz="2200" dirty="0"/>
              <a:t> wilayah DKI Jakarta, yang </a:t>
            </a:r>
            <a:r>
              <a:rPr lang="en-ID" sz="2200" dirty="0" err="1"/>
              <a:t>menunjukkan</a:t>
            </a:r>
            <a:r>
              <a:rPr lang="en-ID" sz="2200" dirty="0"/>
              <a:t> </a:t>
            </a:r>
            <a:r>
              <a:rPr lang="en-ID" sz="2200" dirty="0" err="1"/>
              <a:t>bahwa</a:t>
            </a:r>
            <a:r>
              <a:rPr lang="en-ID" sz="2200" dirty="0"/>
              <a:t> </a:t>
            </a:r>
            <a:r>
              <a:rPr lang="en-ID" sz="2200" dirty="0" err="1"/>
              <a:t>kawasan</a:t>
            </a:r>
            <a:r>
              <a:rPr lang="en-ID" sz="2200" dirty="0"/>
              <a:t> </a:t>
            </a:r>
            <a:r>
              <a:rPr lang="en-ID" sz="2200" dirty="0" err="1"/>
              <a:t>penyangga</a:t>
            </a:r>
            <a:r>
              <a:rPr lang="en-ID" sz="2200" dirty="0"/>
              <a:t> (suburban) </a:t>
            </a:r>
            <a:r>
              <a:rPr lang="en-ID" sz="2200" dirty="0" err="1"/>
              <a:t>memiliki</a:t>
            </a:r>
            <a:r>
              <a:rPr lang="en-ID" sz="2200" dirty="0"/>
              <a:t> </a:t>
            </a:r>
            <a:r>
              <a:rPr lang="en-ID" sz="2200" dirty="0" err="1"/>
              <a:t>potensi</a:t>
            </a:r>
            <a:r>
              <a:rPr lang="en-ID" sz="2200" dirty="0"/>
              <a:t> pasar yang sangat </a:t>
            </a:r>
            <a:r>
              <a:rPr lang="en-ID" sz="2200" dirty="0" err="1"/>
              <a:t>besar</a:t>
            </a:r>
            <a:r>
              <a:rPr lang="en-ID" sz="2200" dirty="0"/>
              <a:t>. </a:t>
            </a:r>
            <a:r>
              <a:rPr lang="en-ID" sz="2200" b="1" dirty="0"/>
              <a:t>Saran:</a:t>
            </a:r>
            <a:r>
              <a:rPr lang="en-ID" sz="2200" dirty="0"/>
              <a:t> </a:t>
            </a:r>
            <a:r>
              <a:rPr lang="en-ID" sz="2200" dirty="0" err="1"/>
              <a:t>Perkuat</a:t>
            </a:r>
            <a:r>
              <a:rPr lang="en-ID" sz="2200" dirty="0"/>
              <a:t> </a:t>
            </a:r>
            <a:r>
              <a:rPr lang="en-ID" sz="2200" dirty="0" err="1"/>
              <a:t>jaringan</a:t>
            </a:r>
            <a:r>
              <a:rPr lang="en-ID" sz="2200" dirty="0"/>
              <a:t> </a:t>
            </a:r>
            <a:r>
              <a:rPr lang="en-ID" sz="2200" dirty="0" err="1"/>
              <a:t>distribusi</a:t>
            </a:r>
            <a:r>
              <a:rPr lang="en-ID" sz="2200" dirty="0"/>
              <a:t> di Tangerang, Bogor, dan Bekasi, </a:t>
            </a:r>
            <a:r>
              <a:rPr lang="en-ID" sz="2200" dirty="0" err="1"/>
              <a:t>seperti</a:t>
            </a:r>
            <a:r>
              <a:rPr lang="en-ID" sz="2200" dirty="0"/>
              <a:t> </a:t>
            </a:r>
            <a:r>
              <a:rPr lang="en-ID" sz="2200" dirty="0" err="1"/>
              <a:t>menambah</a:t>
            </a:r>
            <a:r>
              <a:rPr lang="en-ID" sz="2200" dirty="0"/>
              <a:t> </a:t>
            </a:r>
            <a:r>
              <a:rPr lang="en-ID" sz="2200" dirty="0" err="1"/>
              <a:t>gudang</a:t>
            </a:r>
            <a:r>
              <a:rPr lang="en-ID" sz="2200" dirty="0"/>
              <a:t> </a:t>
            </a:r>
            <a:r>
              <a:rPr lang="en-ID" sz="2200" dirty="0" err="1"/>
              <a:t>atau</a:t>
            </a:r>
            <a:r>
              <a:rPr lang="en-ID" sz="2200" dirty="0"/>
              <a:t> </a:t>
            </a:r>
            <a:r>
              <a:rPr lang="en-ID" sz="2200" dirty="0" err="1"/>
              <a:t>titik</a:t>
            </a:r>
            <a:r>
              <a:rPr lang="en-ID" sz="2200" dirty="0"/>
              <a:t> </a:t>
            </a:r>
            <a:r>
              <a:rPr lang="en-ID" sz="2200" dirty="0" err="1"/>
              <a:t>pengiriman</a:t>
            </a:r>
            <a:r>
              <a:rPr lang="en-ID" sz="2200" dirty="0"/>
              <a:t>, </a:t>
            </a:r>
            <a:r>
              <a:rPr lang="en-ID" sz="2200" dirty="0" err="1"/>
              <a:t>sehingga</a:t>
            </a:r>
            <a:r>
              <a:rPr lang="en-ID" sz="2200" dirty="0"/>
              <a:t> </a:t>
            </a:r>
            <a:r>
              <a:rPr lang="en-ID" sz="2200" dirty="0" err="1"/>
              <a:t>waktu</a:t>
            </a:r>
            <a:r>
              <a:rPr lang="en-ID" sz="2200" dirty="0"/>
              <a:t> </a:t>
            </a:r>
            <a:r>
              <a:rPr lang="en-ID" sz="2200" dirty="0" err="1"/>
              <a:t>pengiriman</a:t>
            </a:r>
            <a:r>
              <a:rPr lang="en-ID" sz="2200" dirty="0"/>
              <a:t> </a:t>
            </a:r>
            <a:r>
              <a:rPr lang="en-ID" sz="2200" dirty="0" err="1"/>
              <a:t>lebih</a:t>
            </a:r>
            <a:r>
              <a:rPr lang="en-ID" sz="2200" dirty="0"/>
              <a:t> </a:t>
            </a:r>
            <a:r>
              <a:rPr lang="en-ID" sz="2200" dirty="0" err="1"/>
              <a:t>cepat</a:t>
            </a:r>
            <a:r>
              <a:rPr lang="en-ID" sz="2200" dirty="0"/>
              <a:t> dan </a:t>
            </a:r>
            <a:r>
              <a:rPr lang="en-ID" sz="2200" dirty="0" err="1"/>
              <a:t>biaya</a:t>
            </a:r>
            <a:r>
              <a:rPr lang="en-ID" sz="2200" dirty="0"/>
              <a:t> </a:t>
            </a:r>
            <a:r>
              <a:rPr lang="en-ID" sz="2200" dirty="0" err="1"/>
              <a:t>logistik</a:t>
            </a:r>
            <a:r>
              <a:rPr lang="en-ID" sz="2200" dirty="0"/>
              <a:t> </a:t>
            </a:r>
            <a:r>
              <a:rPr lang="en-ID" sz="2200" dirty="0" err="1"/>
              <a:t>dapat</a:t>
            </a:r>
            <a:r>
              <a:rPr lang="en-ID" sz="2200" dirty="0"/>
              <a:t> </a:t>
            </a:r>
            <a:r>
              <a:rPr lang="en-ID" sz="2200" dirty="0" err="1"/>
              <a:t>ditekan</a:t>
            </a:r>
            <a:r>
              <a:rPr lang="en-ID" sz="2200" dirty="0"/>
              <a:t>.</a:t>
            </a:r>
          </a:p>
          <a:p>
            <a:pPr marL="388638" lvl="1" indent="-194319" algn="just">
              <a:lnSpc>
                <a:spcPts val="2520"/>
              </a:lnSpc>
              <a:buFont typeface="Arial"/>
              <a:buChar char="•"/>
            </a:pPr>
            <a:r>
              <a:rPr lang="en-ID" sz="2200" dirty="0" err="1"/>
              <a:t>Kontribusi</a:t>
            </a:r>
            <a:r>
              <a:rPr lang="en-ID" sz="2200" dirty="0"/>
              <a:t> lima </a:t>
            </a:r>
            <a:r>
              <a:rPr lang="en-ID" sz="2200" dirty="0" err="1"/>
              <a:t>provinsi</a:t>
            </a:r>
            <a:r>
              <a:rPr lang="en-ID" sz="2200" dirty="0"/>
              <a:t> </a:t>
            </a:r>
            <a:r>
              <a:rPr lang="en-ID" sz="2200" dirty="0" err="1"/>
              <a:t>luar</a:t>
            </a:r>
            <a:r>
              <a:rPr lang="en-ID" sz="2200" dirty="0"/>
              <a:t> Jawa (Sumatera Selatan, Lampung, Bali, Sumatera Utara, dan Sulawesi Selatan) </a:t>
            </a:r>
            <a:r>
              <a:rPr lang="en-ID" sz="2200" dirty="0" err="1"/>
              <a:t>masih</a:t>
            </a:r>
            <a:r>
              <a:rPr lang="en-ID" sz="2200" dirty="0"/>
              <a:t> </a:t>
            </a:r>
            <a:r>
              <a:rPr lang="en-ID" sz="2200" dirty="0" err="1"/>
              <a:t>sekitar</a:t>
            </a:r>
            <a:r>
              <a:rPr lang="en-ID" sz="2200" dirty="0"/>
              <a:t> </a:t>
            </a:r>
            <a:r>
              <a:rPr lang="en-ID" sz="2200" b="1" dirty="0"/>
              <a:t>18,6%</a:t>
            </a:r>
            <a:r>
              <a:rPr lang="en-ID" sz="2200" dirty="0"/>
              <a:t>, </a:t>
            </a:r>
            <a:r>
              <a:rPr lang="en-ID" sz="2200" dirty="0" err="1"/>
              <a:t>sehingga</a:t>
            </a:r>
            <a:r>
              <a:rPr lang="en-ID" sz="2200" dirty="0"/>
              <a:t> </a:t>
            </a:r>
            <a:r>
              <a:rPr lang="en-ID" sz="2200" dirty="0" err="1"/>
              <a:t>masih</a:t>
            </a:r>
            <a:r>
              <a:rPr lang="en-ID" sz="2200" dirty="0"/>
              <a:t> </a:t>
            </a:r>
            <a:r>
              <a:rPr lang="en-ID" sz="2200" dirty="0" err="1"/>
              <a:t>terdapat</a:t>
            </a:r>
            <a:r>
              <a:rPr lang="en-ID" sz="2200" dirty="0"/>
              <a:t> </a:t>
            </a:r>
            <a:r>
              <a:rPr lang="en-ID" sz="2200" dirty="0" err="1"/>
              <a:t>ruang</a:t>
            </a:r>
            <a:r>
              <a:rPr lang="en-ID" sz="2200" dirty="0"/>
              <a:t> yang </a:t>
            </a:r>
            <a:r>
              <a:rPr lang="en-ID" sz="2200" dirty="0" err="1"/>
              <a:t>besar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meningkatkan</a:t>
            </a:r>
            <a:r>
              <a:rPr lang="en-ID" sz="2200" dirty="0"/>
              <a:t> </a:t>
            </a:r>
            <a:r>
              <a:rPr lang="en-ID" sz="2200" dirty="0" err="1"/>
              <a:t>penjualan</a:t>
            </a:r>
            <a:r>
              <a:rPr lang="en-ID" sz="2200" dirty="0"/>
              <a:t> di wilayah </a:t>
            </a:r>
            <a:r>
              <a:rPr lang="en-ID" sz="2200" dirty="0" err="1"/>
              <a:t>tersebut</a:t>
            </a:r>
            <a:r>
              <a:rPr lang="en-ID" sz="2200" dirty="0"/>
              <a:t>. </a:t>
            </a:r>
            <a:r>
              <a:rPr lang="en-ID" sz="2200" b="1" dirty="0"/>
              <a:t>Saran:</a:t>
            </a:r>
            <a:r>
              <a:rPr lang="en-ID" sz="2200" dirty="0"/>
              <a:t> </a:t>
            </a:r>
            <a:r>
              <a:rPr lang="en-ID" sz="2200" dirty="0" err="1"/>
              <a:t>Lakukan</a:t>
            </a:r>
            <a:r>
              <a:rPr lang="en-ID" sz="2200" dirty="0"/>
              <a:t> </a:t>
            </a:r>
            <a:r>
              <a:rPr lang="en-ID" sz="2200" dirty="0" err="1"/>
              <a:t>ekspansi</a:t>
            </a:r>
            <a:r>
              <a:rPr lang="en-ID" sz="2200" dirty="0"/>
              <a:t> </a:t>
            </a:r>
            <a:r>
              <a:rPr lang="en-ID" sz="2200" dirty="0" err="1"/>
              <a:t>secara</a:t>
            </a:r>
            <a:r>
              <a:rPr lang="en-ID" sz="2200" dirty="0"/>
              <a:t> </a:t>
            </a:r>
            <a:r>
              <a:rPr lang="en-ID" sz="2200" dirty="0" err="1"/>
              <a:t>bertahap</a:t>
            </a:r>
            <a:r>
              <a:rPr lang="en-ID" sz="2200" dirty="0"/>
              <a:t> </a:t>
            </a:r>
            <a:r>
              <a:rPr lang="en-ID" sz="2200" dirty="0" err="1"/>
              <a:t>melalui</a:t>
            </a:r>
            <a:r>
              <a:rPr lang="en-ID" sz="2200" dirty="0"/>
              <a:t> </a:t>
            </a:r>
            <a:r>
              <a:rPr lang="en-ID" sz="2200" dirty="0" err="1"/>
              <a:t>promosi</a:t>
            </a:r>
            <a:r>
              <a:rPr lang="en-ID" sz="2200" dirty="0"/>
              <a:t> yang </a:t>
            </a:r>
            <a:r>
              <a:rPr lang="en-ID" sz="2200" dirty="0" err="1"/>
              <a:t>disesuaikan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karakteristik</a:t>
            </a:r>
            <a:r>
              <a:rPr lang="en-ID" sz="2200" dirty="0"/>
              <a:t> </a:t>
            </a:r>
            <a:r>
              <a:rPr lang="en-ID" sz="2200" dirty="0" err="1"/>
              <a:t>daerah</a:t>
            </a:r>
            <a:r>
              <a:rPr lang="en-ID" sz="2200" dirty="0"/>
              <a:t>, </a:t>
            </a:r>
            <a:r>
              <a:rPr lang="en-ID" sz="2200" dirty="0" err="1"/>
              <a:t>bekerja</a:t>
            </a:r>
            <a:r>
              <a:rPr lang="en-ID" sz="2200" dirty="0"/>
              <a:t> </a:t>
            </a:r>
            <a:r>
              <a:rPr lang="en-ID" sz="2200" dirty="0" err="1"/>
              <a:t>sama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mitra</a:t>
            </a:r>
            <a:r>
              <a:rPr lang="en-ID" sz="2200" dirty="0"/>
              <a:t> </a:t>
            </a:r>
            <a:r>
              <a:rPr lang="en-ID" sz="2200" dirty="0" err="1"/>
              <a:t>logistik</a:t>
            </a:r>
            <a:r>
              <a:rPr lang="en-ID" sz="2200" dirty="0"/>
              <a:t> </a:t>
            </a:r>
            <a:r>
              <a:rPr lang="en-ID" sz="2200" dirty="0" err="1"/>
              <a:t>lokal</a:t>
            </a:r>
            <a:r>
              <a:rPr lang="en-ID" sz="2200" dirty="0"/>
              <a:t>, </a:t>
            </a:r>
            <a:r>
              <a:rPr lang="en-ID" sz="2200" dirty="0" err="1"/>
              <a:t>serta</a:t>
            </a:r>
            <a:r>
              <a:rPr lang="en-ID" sz="2200" dirty="0"/>
              <a:t> </a:t>
            </a:r>
            <a:r>
              <a:rPr lang="en-ID" sz="2200" dirty="0" err="1"/>
              <a:t>memanfaatkan</a:t>
            </a:r>
            <a:r>
              <a:rPr lang="en-ID" sz="2200" dirty="0"/>
              <a:t> </a:t>
            </a:r>
            <a:r>
              <a:rPr lang="en-ID" sz="2200" dirty="0" err="1"/>
              <a:t>kampanye</a:t>
            </a:r>
            <a:r>
              <a:rPr lang="en-ID" sz="2200" dirty="0"/>
              <a:t> digital yang </a:t>
            </a:r>
            <a:r>
              <a:rPr lang="en-ID" sz="2200" dirty="0" err="1"/>
              <a:t>ditargetkan</a:t>
            </a:r>
            <a:r>
              <a:rPr lang="en-ID" sz="2200" dirty="0"/>
              <a:t> agar </a:t>
            </a:r>
            <a:r>
              <a:rPr lang="en-ID" sz="2200" dirty="0" err="1"/>
              <a:t>biaya</a:t>
            </a:r>
            <a:r>
              <a:rPr lang="en-ID" sz="2200" dirty="0"/>
              <a:t> </a:t>
            </a:r>
            <a:r>
              <a:rPr lang="en-ID" sz="2200" dirty="0" err="1"/>
              <a:t>pemasaran</a:t>
            </a:r>
            <a:r>
              <a:rPr lang="en-ID" sz="2200" dirty="0"/>
              <a:t> </a:t>
            </a:r>
            <a:r>
              <a:rPr lang="en-ID" sz="2200" dirty="0" err="1"/>
              <a:t>tetap</a:t>
            </a:r>
            <a:r>
              <a:rPr lang="en-ID" sz="2200" dirty="0"/>
              <a:t> </a:t>
            </a:r>
            <a:r>
              <a:rPr lang="en-ID" sz="2200" dirty="0" err="1"/>
              <a:t>efisien</a:t>
            </a:r>
            <a:r>
              <a:rPr lang="en-ID" sz="2200" dirty="0"/>
              <a:t> </a:t>
            </a:r>
            <a:r>
              <a:rPr lang="en-ID" sz="2200" dirty="0" err="1"/>
              <a:t>namun</a:t>
            </a:r>
            <a:r>
              <a:rPr lang="en-ID" sz="2200" dirty="0"/>
              <a:t> </a:t>
            </a:r>
            <a:r>
              <a:rPr lang="en-ID" sz="2200" dirty="0" err="1"/>
              <a:t>mampu</a:t>
            </a:r>
            <a:r>
              <a:rPr lang="en-ID" sz="2200" dirty="0"/>
              <a:t> </a:t>
            </a:r>
            <a:r>
              <a:rPr lang="en-ID" sz="2200" dirty="0" err="1"/>
              <a:t>menjangkau</a:t>
            </a:r>
            <a:r>
              <a:rPr lang="en-ID" sz="2200" dirty="0"/>
              <a:t> pasar </a:t>
            </a:r>
            <a:r>
              <a:rPr lang="en-ID" sz="2200" dirty="0" err="1"/>
              <a:t>baru</a:t>
            </a:r>
            <a:r>
              <a:rPr lang="en-ID" sz="2200" dirty="0"/>
              <a:t>.</a:t>
            </a:r>
            <a:endParaRPr lang="en-US" sz="22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1077" y="667265"/>
            <a:ext cx="361435" cy="361435"/>
          </a:xfrm>
          <a:custGeom>
            <a:avLst/>
            <a:gdLst/>
            <a:ahLst/>
            <a:cxnLst/>
            <a:rect l="l" t="t" r="r" b="b"/>
            <a:pathLst>
              <a:path w="361435" h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784996" y="649288"/>
            <a:ext cx="436681" cy="339023"/>
          </a:xfrm>
          <a:custGeom>
            <a:avLst/>
            <a:gdLst/>
            <a:ahLst/>
            <a:cxnLst/>
            <a:rect l="l" t="t" r="r" b="b"/>
            <a:pathLst>
              <a:path w="436681" h="339023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00854" y="1753872"/>
            <a:ext cx="8947946" cy="4308138"/>
          </a:xfrm>
          <a:custGeom>
            <a:avLst/>
            <a:gdLst/>
            <a:ahLst/>
            <a:cxnLst/>
            <a:rect l="l" t="t" r="r" b="b"/>
            <a:pathLst>
              <a:path w="8643146" h="4308138">
                <a:moveTo>
                  <a:pt x="0" y="0"/>
                </a:moveTo>
                <a:lnTo>
                  <a:pt x="8643146" y="0"/>
                </a:lnTo>
                <a:lnTo>
                  <a:pt x="8643146" y="4308138"/>
                </a:lnTo>
                <a:lnTo>
                  <a:pt x="0" y="4308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3398281" y="492190"/>
            <a:ext cx="11491437" cy="496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Analisis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Rata-rata </a:t>
            </a: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Jumlah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Pembelian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Berdasarkan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Rentang</a:t>
            </a:r>
            <a:r>
              <a:rPr lang="en-US" sz="3000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Diskon</a:t>
            </a:r>
            <a:endParaRPr lang="en-US" sz="3000" dirty="0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753600" y="1715772"/>
            <a:ext cx="8128090" cy="5806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Insight: </a:t>
            </a:r>
          </a:p>
          <a:p>
            <a:pPr marL="431817" lvl="1" indent="-215908" algn="just">
              <a:lnSpc>
                <a:spcPts val="2800"/>
              </a:lnSpc>
              <a:buFont typeface="Arial"/>
              <a:buChar char="•"/>
            </a:pPr>
            <a:r>
              <a:rPr lang="en-ID" sz="2200" dirty="0" err="1"/>
              <a:t>Transaksi</a:t>
            </a:r>
            <a:r>
              <a:rPr lang="en-ID" sz="2200" dirty="0"/>
              <a:t> </a:t>
            </a:r>
            <a:r>
              <a:rPr lang="en-ID" sz="2200" b="1" dirty="0" err="1"/>
              <a:t>tanpa</a:t>
            </a:r>
            <a:r>
              <a:rPr lang="en-ID" sz="2200" b="1" dirty="0"/>
              <a:t> </a:t>
            </a:r>
            <a:r>
              <a:rPr lang="en-ID" sz="2200" b="1" dirty="0" err="1"/>
              <a:t>diskon</a:t>
            </a:r>
            <a:r>
              <a:rPr lang="en-ID" sz="2200" dirty="0"/>
              <a:t> </a:t>
            </a:r>
            <a:r>
              <a:rPr lang="en-ID" sz="2200" dirty="0" err="1"/>
              <a:t>hanya</a:t>
            </a:r>
            <a:r>
              <a:rPr lang="en-ID" sz="2200" dirty="0"/>
              <a:t> </a:t>
            </a:r>
            <a:r>
              <a:rPr lang="en-ID" sz="2200" dirty="0" err="1"/>
              <a:t>menghasilkan</a:t>
            </a:r>
            <a:r>
              <a:rPr lang="en-ID" sz="2200" dirty="0"/>
              <a:t> rata-rata </a:t>
            </a:r>
            <a:r>
              <a:rPr lang="en-ID" sz="2200" b="1" dirty="0"/>
              <a:t>2,28 item per </a:t>
            </a:r>
            <a:r>
              <a:rPr lang="en-ID" sz="2200" b="1" dirty="0" err="1"/>
              <a:t>transaksi</a:t>
            </a:r>
            <a:r>
              <a:rPr lang="en-ID" sz="2200" b="1" dirty="0"/>
              <a:t>, </a:t>
            </a:r>
            <a:r>
              <a:rPr lang="en-ID" sz="2200" dirty="0" err="1"/>
              <a:t>Diskon</a:t>
            </a:r>
            <a:r>
              <a:rPr lang="en-ID" sz="2200" dirty="0"/>
              <a:t> </a:t>
            </a:r>
            <a:r>
              <a:rPr lang="en-ID" sz="2200" dirty="0" err="1"/>
              <a:t>sekecil</a:t>
            </a:r>
            <a:r>
              <a:rPr lang="en-ID" sz="2200" dirty="0"/>
              <a:t> </a:t>
            </a:r>
            <a:r>
              <a:rPr lang="en-ID" sz="2200" dirty="0" err="1"/>
              <a:t>apapun</a:t>
            </a:r>
            <a:r>
              <a:rPr lang="en-ID" sz="2200" dirty="0"/>
              <a:t> (1-10 </a:t>
            </a:r>
            <a:r>
              <a:rPr lang="en-ID" sz="2200" dirty="0" err="1"/>
              <a:t>ribu</a:t>
            </a:r>
            <a:r>
              <a:rPr lang="en-ID" sz="2200" dirty="0"/>
              <a:t>) </a:t>
            </a:r>
            <a:r>
              <a:rPr lang="en-ID" sz="2200" dirty="0" err="1"/>
              <a:t>tetap</a:t>
            </a:r>
            <a:r>
              <a:rPr lang="en-ID" sz="2200" dirty="0"/>
              <a:t> </a:t>
            </a:r>
            <a:r>
              <a:rPr lang="en-ID" sz="2200" dirty="0" err="1"/>
              <a:t>meningkatkan</a:t>
            </a:r>
            <a:r>
              <a:rPr lang="en-ID" sz="2200" dirty="0"/>
              <a:t> </a:t>
            </a:r>
            <a:r>
              <a:rPr lang="en-ID" sz="2200" dirty="0" err="1"/>
              <a:t>pembelian</a:t>
            </a:r>
            <a:r>
              <a:rPr lang="en-ID" sz="2200" dirty="0"/>
              <a:t> </a:t>
            </a:r>
            <a:r>
              <a:rPr lang="en-ID" sz="2200" b="1" dirty="0"/>
              <a:t>3.3x </a:t>
            </a:r>
            <a:r>
              <a:rPr lang="en-ID" sz="2200" b="1" dirty="0" err="1"/>
              <a:t>lipat</a:t>
            </a:r>
            <a:r>
              <a:rPr lang="en-ID" sz="2200" dirty="0"/>
              <a:t> (7.52 unit) </a:t>
            </a:r>
            <a:r>
              <a:rPr lang="en-ID" sz="2200" dirty="0" err="1"/>
              <a:t>dibandingkan</a:t>
            </a:r>
            <a:r>
              <a:rPr lang="en-ID" sz="2200" dirty="0"/>
              <a:t> </a:t>
            </a:r>
            <a:r>
              <a:rPr lang="en-ID" sz="2200" dirty="0" err="1"/>
              <a:t>tanpa</a:t>
            </a:r>
            <a:r>
              <a:rPr lang="en-ID" sz="2200" dirty="0"/>
              <a:t> </a:t>
            </a:r>
            <a:r>
              <a:rPr lang="en-ID" sz="2200" dirty="0" err="1"/>
              <a:t>diskon</a:t>
            </a:r>
            <a:r>
              <a:rPr lang="en-ID" sz="2200" dirty="0"/>
              <a:t>, </a:t>
            </a:r>
            <a:r>
              <a:rPr lang="en-ID" sz="2200" dirty="0" err="1"/>
              <a:t>menunjukkan</a:t>
            </a:r>
            <a:r>
              <a:rPr lang="en-ID" sz="2200" dirty="0"/>
              <a:t> </a:t>
            </a:r>
            <a:r>
              <a:rPr lang="en-ID" sz="2200" dirty="0" err="1"/>
              <a:t>diskon</a:t>
            </a:r>
            <a:r>
              <a:rPr lang="en-ID" sz="2200" dirty="0"/>
              <a:t> </a:t>
            </a:r>
            <a:r>
              <a:rPr lang="en-ID" sz="2200" dirty="0" err="1"/>
              <a:t>itu</a:t>
            </a:r>
            <a:r>
              <a:rPr lang="en-ID" sz="2200" dirty="0"/>
              <a:t> </a:t>
            </a:r>
            <a:r>
              <a:rPr lang="en-ID" sz="2200" dirty="0" err="1"/>
              <a:t>sendiri</a:t>
            </a:r>
            <a:r>
              <a:rPr lang="en-ID" sz="2200" dirty="0"/>
              <a:t> </a:t>
            </a:r>
            <a:r>
              <a:rPr lang="en-ID" sz="2200" dirty="0" err="1"/>
              <a:t>adalah</a:t>
            </a:r>
            <a:r>
              <a:rPr lang="en-ID" sz="2200" dirty="0"/>
              <a:t> </a:t>
            </a:r>
            <a:r>
              <a:rPr lang="en-ID" sz="2200" dirty="0" err="1"/>
              <a:t>pemicu</a:t>
            </a:r>
            <a:r>
              <a:rPr lang="en-ID" sz="2200" dirty="0"/>
              <a:t> </a:t>
            </a:r>
            <a:r>
              <a:rPr lang="en-ID" sz="2200" dirty="0" err="1"/>
              <a:t>pembelian</a:t>
            </a:r>
            <a:r>
              <a:rPr lang="en-ID" sz="2200" dirty="0"/>
              <a:t> dan </a:t>
            </a:r>
            <a:r>
              <a:rPr lang="en-ID" sz="2200" dirty="0" err="1"/>
              <a:t>memiliki</a:t>
            </a:r>
            <a:r>
              <a:rPr lang="en-ID" sz="2200" dirty="0"/>
              <a:t> </a:t>
            </a:r>
            <a:r>
              <a:rPr lang="en-ID" sz="2200" dirty="0" err="1"/>
              <a:t>pengaruh</a:t>
            </a:r>
            <a:r>
              <a:rPr lang="en-ID" sz="2200" dirty="0"/>
              <a:t> </a:t>
            </a:r>
            <a:r>
              <a:rPr lang="en-ID" sz="2200" dirty="0" err="1"/>
              <a:t>besar</a:t>
            </a:r>
            <a:r>
              <a:rPr lang="en-ID" sz="2200" dirty="0"/>
              <a:t> </a:t>
            </a:r>
            <a:r>
              <a:rPr lang="en-ID" sz="2200" dirty="0" err="1"/>
              <a:t>terhadap</a:t>
            </a:r>
            <a:r>
              <a:rPr lang="en-ID" sz="2200" dirty="0"/>
              <a:t> </a:t>
            </a:r>
            <a:r>
              <a:rPr lang="en-ID" sz="2200" dirty="0" err="1"/>
              <a:t>keputusan</a:t>
            </a:r>
            <a:r>
              <a:rPr lang="en-ID" sz="2200" dirty="0"/>
              <a:t> </a:t>
            </a:r>
            <a:r>
              <a:rPr lang="en-ID" sz="2200" dirty="0" err="1"/>
              <a:t>pelanggan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membeli</a:t>
            </a:r>
            <a:r>
              <a:rPr lang="en-ID" sz="2200" dirty="0"/>
              <a:t> </a:t>
            </a:r>
            <a:r>
              <a:rPr lang="en-ID" sz="2200" dirty="0" err="1"/>
              <a:t>lebih</a:t>
            </a:r>
            <a:r>
              <a:rPr lang="en-ID" sz="2200" dirty="0"/>
              <a:t> </a:t>
            </a:r>
            <a:r>
              <a:rPr lang="en-ID" sz="2200" dirty="0" err="1"/>
              <a:t>banyak</a:t>
            </a:r>
            <a:r>
              <a:rPr lang="en-ID" sz="2200" dirty="0"/>
              <a:t>. </a:t>
            </a:r>
            <a:r>
              <a:rPr lang="en-ID" sz="2200" b="1" dirty="0"/>
              <a:t>Saran:</a:t>
            </a:r>
            <a:r>
              <a:rPr lang="en-ID" sz="2200" dirty="0"/>
              <a:t> </a:t>
            </a:r>
            <a:r>
              <a:rPr lang="en-ID" sz="2200" dirty="0" err="1"/>
              <a:t>Berikan</a:t>
            </a:r>
            <a:r>
              <a:rPr lang="en-ID" sz="2200" dirty="0"/>
              <a:t> promo </a:t>
            </a:r>
            <a:r>
              <a:rPr lang="en-ID" sz="2200" dirty="0" err="1"/>
              <a:t>ringan</a:t>
            </a:r>
            <a:r>
              <a:rPr lang="en-ID" sz="2200" dirty="0"/>
              <a:t> </a:t>
            </a:r>
            <a:r>
              <a:rPr lang="en-ID" sz="2200" dirty="0" err="1"/>
              <a:t>seperti</a:t>
            </a:r>
            <a:r>
              <a:rPr lang="en-ID" sz="2200" dirty="0"/>
              <a:t> </a:t>
            </a:r>
            <a:r>
              <a:rPr lang="en-ID" sz="2200" dirty="0" err="1"/>
              <a:t>potongan</a:t>
            </a:r>
            <a:r>
              <a:rPr lang="en-ID" sz="2200" dirty="0"/>
              <a:t> </a:t>
            </a:r>
            <a:r>
              <a:rPr lang="en-ID" sz="2200" dirty="0" err="1"/>
              <a:t>harga</a:t>
            </a:r>
            <a:r>
              <a:rPr lang="en-ID" sz="2200" dirty="0"/>
              <a:t> minimum </a:t>
            </a:r>
            <a:r>
              <a:rPr lang="en-ID" sz="2200" dirty="0" err="1"/>
              <a:t>pembelian</a:t>
            </a:r>
            <a:r>
              <a:rPr lang="en-ID" sz="2200" dirty="0"/>
              <a:t> </a:t>
            </a:r>
            <a:r>
              <a:rPr lang="en-ID" sz="2200" dirty="0" err="1"/>
              <a:t>atau</a:t>
            </a:r>
            <a:r>
              <a:rPr lang="en-ID" sz="2200" dirty="0"/>
              <a:t> voucher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mendorong</a:t>
            </a:r>
            <a:r>
              <a:rPr lang="en-ID" sz="2200" dirty="0"/>
              <a:t> </a:t>
            </a:r>
            <a:r>
              <a:rPr lang="en-ID" sz="2200" dirty="0" err="1"/>
              <a:t>pelanggan</a:t>
            </a:r>
            <a:r>
              <a:rPr lang="en-ID" sz="2200" dirty="0"/>
              <a:t> </a:t>
            </a:r>
            <a:r>
              <a:rPr lang="en-ID" sz="2200" dirty="0" err="1"/>
              <a:t>menambah</a:t>
            </a:r>
            <a:r>
              <a:rPr lang="en-ID" sz="2200" dirty="0"/>
              <a:t> </a:t>
            </a:r>
            <a:r>
              <a:rPr lang="en-ID" sz="2200" dirty="0" err="1"/>
              <a:t>jumlah</a:t>
            </a:r>
            <a:r>
              <a:rPr lang="en-ID" sz="2200" dirty="0"/>
              <a:t> item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setiap</a:t>
            </a:r>
            <a:r>
              <a:rPr lang="en-ID" sz="2200" dirty="0"/>
              <a:t> </a:t>
            </a:r>
            <a:r>
              <a:rPr lang="en-ID" sz="2200" dirty="0" err="1"/>
              <a:t>transaksi</a:t>
            </a:r>
            <a:r>
              <a:rPr lang="en-ID" sz="2200" dirty="0"/>
              <a:t>.</a:t>
            </a:r>
          </a:p>
          <a:p>
            <a:pPr marL="431817" lvl="1" indent="-215908" algn="just">
              <a:lnSpc>
                <a:spcPts val="2800"/>
              </a:lnSpc>
              <a:buFont typeface="Arial"/>
              <a:buChar char="•"/>
            </a:pPr>
            <a:r>
              <a:rPr lang="en-ID" sz="2200" dirty="0" err="1"/>
              <a:t>Transaksi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diskon</a:t>
            </a:r>
            <a:r>
              <a:rPr lang="en-ID" sz="2200" dirty="0"/>
              <a:t> </a:t>
            </a:r>
            <a:r>
              <a:rPr lang="en-ID" sz="2200" b="1" dirty="0"/>
              <a:t>di </a:t>
            </a:r>
            <a:r>
              <a:rPr lang="en-ID" sz="2200" b="1" dirty="0" err="1"/>
              <a:t>atas</a:t>
            </a:r>
            <a:r>
              <a:rPr lang="en-ID" sz="2200" b="1" dirty="0"/>
              <a:t> Rp500 </a:t>
            </a:r>
            <a:r>
              <a:rPr lang="en-ID" sz="2200" b="1" dirty="0" err="1"/>
              <a:t>ribu</a:t>
            </a:r>
            <a:r>
              <a:rPr lang="en-ID" sz="2200" dirty="0"/>
              <a:t> </a:t>
            </a:r>
            <a:r>
              <a:rPr lang="en-ID" sz="2200" dirty="0" err="1"/>
              <a:t>memiliki</a:t>
            </a:r>
            <a:r>
              <a:rPr lang="en-ID" sz="2200" dirty="0"/>
              <a:t> rata-rata </a:t>
            </a:r>
            <a:r>
              <a:rPr lang="en-ID" sz="2200" dirty="0" err="1"/>
              <a:t>pembelian</a:t>
            </a:r>
            <a:r>
              <a:rPr lang="en-ID" sz="2200" dirty="0"/>
              <a:t> </a:t>
            </a:r>
            <a:r>
              <a:rPr lang="en-ID" sz="2200" dirty="0" err="1"/>
              <a:t>tertinggi</a:t>
            </a:r>
            <a:r>
              <a:rPr lang="en-ID" sz="2200" dirty="0"/>
              <a:t>, </a:t>
            </a:r>
            <a:r>
              <a:rPr lang="en-ID" sz="2200" dirty="0" err="1"/>
              <a:t>yaitu</a:t>
            </a:r>
            <a:r>
              <a:rPr lang="en-ID" sz="2200" dirty="0"/>
              <a:t> </a:t>
            </a:r>
            <a:r>
              <a:rPr lang="en-ID" sz="2200" dirty="0" err="1"/>
              <a:t>sekitar</a:t>
            </a:r>
            <a:r>
              <a:rPr lang="en-ID" sz="2200" dirty="0"/>
              <a:t> </a:t>
            </a:r>
            <a:r>
              <a:rPr lang="en-ID" sz="2200" b="1" dirty="0"/>
              <a:t>200 item per </a:t>
            </a:r>
            <a:r>
              <a:rPr lang="en-ID" sz="2200" b="1" dirty="0" err="1"/>
              <a:t>transaksi</a:t>
            </a:r>
            <a:r>
              <a:rPr lang="en-ID" sz="2200" dirty="0"/>
              <a:t>, </a:t>
            </a:r>
            <a:r>
              <a:rPr lang="en-ID" sz="2200" dirty="0" err="1"/>
              <a:t>jauh</a:t>
            </a:r>
            <a:r>
              <a:rPr lang="en-ID" sz="2200" dirty="0"/>
              <a:t> </a:t>
            </a:r>
            <a:r>
              <a:rPr lang="en-ID" sz="2200" dirty="0" err="1"/>
              <a:t>lebih</a:t>
            </a:r>
            <a:r>
              <a:rPr lang="en-ID" sz="2200" dirty="0"/>
              <a:t> </a:t>
            </a:r>
            <a:r>
              <a:rPr lang="en-ID" sz="2200" dirty="0" err="1"/>
              <a:t>tinggi</a:t>
            </a:r>
            <a:r>
              <a:rPr lang="en-ID" sz="2200" dirty="0"/>
              <a:t> </a:t>
            </a:r>
            <a:r>
              <a:rPr lang="en-ID" sz="2200" dirty="0" err="1"/>
              <a:t>yaitu</a:t>
            </a:r>
            <a:r>
              <a:rPr lang="en-ID" sz="2200" dirty="0"/>
              <a:t> </a:t>
            </a:r>
            <a:r>
              <a:rPr lang="en-ID" sz="2200" b="1" dirty="0"/>
              <a:t>87x </a:t>
            </a:r>
            <a:r>
              <a:rPr lang="en-ID" sz="2200" b="1" dirty="0" err="1"/>
              <a:t>lipat</a:t>
            </a:r>
            <a:r>
              <a:rPr lang="en-ID" sz="2200" dirty="0"/>
              <a:t> </a:t>
            </a:r>
            <a:r>
              <a:rPr lang="en-ID" sz="2200" dirty="0" err="1"/>
              <a:t>dari</a:t>
            </a:r>
            <a:r>
              <a:rPr lang="en-ID" sz="2200" dirty="0"/>
              <a:t> </a:t>
            </a:r>
            <a:r>
              <a:rPr lang="en-ID" sz="2200" dirty="0" err="1"/>
              <a:t>tanpa</a:t>
            </a:r>
            <a:r>
              <a:rPr lang="en-ID" sz="2200" dirty="0"/>
              <a:t> </a:t>
            </a:r>
            <a:r>
              <a:rPr lang="en-ID" sz="2200" dirty="0" err="1"/>
              <a:t>diskon</a:t>
            </a:r>
            <a:r>
              <a:rPr lang="en-ID" sz="2200" dirty="0"/>
              <a:t>. </a:t>
            </a:r>
            <a:r>
              <a:rPr lang="en-ID" sz="2200" b="1" dirty="0"/>
              <a:t>Saran:</a:t>
            </a:r>
            <a:r>
              <a:rPr lang="en-ID" sz="2200" dirty="0"/>
              <a:t> </a:t>
            </a:r>
            <a:r>
              <a:rPr lang="en-ID" sz="2200" dirty="0" err="1"/>
              <a:t>Terapkan</a:t>
            </a:r>
            <a:r>
              <a:rPr lang="en-ID" sz="2200" dirty="0"/>
              <a:t> </a:t>
            </a:r>
            <a:r>
              <a:rPr lang="en-ID" sz="2200" dirty="0" err="1"/>
              <a:t>diskon</a:t>
            </a:r>
            <a:r>
              <a:rPr lang="en-ID" sz="2200" dirty="0"/>
              <a:t> </a:t>
            </a:r>
            <a:r>
              <a:rPr lang="en-ID" sz="2200" dirty="0" err="1"/>
              <a:t>terbesar</a:t>
            </a:r>
            <a:r>
              <a:rPr lang="en-ID" sz="2200" dirty="0"/>
              <a:t> pada </a:t>
            </a:r>
            <a:r>
              <a:rPr lang="en-ID" sz="2200" dirty="0" err="1"/>
              <a:t>pelanggan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pembelian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jumlah</a:t>
            </a:r>
            <a:r>
              <a:rPr lang="en-ID" sz="2200" dirty="0"/>
              <a:t> </a:t>
            </a:r>
            <a:r>
              <a:rPr lang="en-ID" sz="2200" dirty="0" err="1"/>
              <a:t>besar</a:t>
            </a:r>
            <a:r>
              <a:rPr lang="en-ID" sz="2200" dirty="0"/>
              <a:t> agar </a:t>
            </a:r>
            <a:r>
              <a:rPr lang="en-ID" sz="2200" dirty="0" err="1"/>
              <a:t>nilai</a:t>
            </a:r>
            <a:r>
              <a:rPr lang="en-ID" sz="2200" dirty="0"/>
              <a:t> </a:t>
            </a:r>
            <a:r>
              <a:rPr lang="en-ID" sz="2200" dirty="0" err="1"/>
              <a:t>transaksi</a:t>
            </a:r>
            <a:r>
              <a:rPr lang="en-ID" sz="2200" dirty="0"/>
              <a:t> </a:t>
            </a:r>
            <a:r>
              <a:rPr lang="en-ID" sz="2200" dirty="0" err="1"/>
              <a:t>meningkat</a:t>
            </a:r>
            <a:r>
              <a:rPr lang="en-ID" sz="2200" dirty="0"/>
              <a:t> </a:t>
            </a:r>
            <a:r>
              <a:rPr lang="en-ID" sz="2200" dirty="0" err="1"/>
              <a:t>tanpa</a:t>
            </a:r>
            <a:r>
              <a:rPr lang="en-ID" sz="2200" dirty="0"/>
              <a:t> </a:t>
            </a:r>
            <a:r>
              <a:rPr lang="en-ID" sz="2200" dirty="0" err="1"/>
              <a:t>harus</a:t>
            </a:r>
            <a:r>
              <a:rPr lang="en-ID" sz="2200" dirty="0"/>
              <a:t> </a:t>
            </a:r>
            <a:r>
              <a:rPr lang="en-ID" sz="2200" dirty="0" err="1"/>
              <a:t>memberikan</a:t>
            </a:r>
            <a:r>
              <a:rPr lang="en-ID" sz="2200" dirty="0"/>
              <a:t> </a:t>
            </a:r>
            <a:r>
              <a:rPr lang="en-ID" sz="2200" dirty="0" err="1"/>
              <a:t>diskon</a:t>
            </a:r>
            <a:r>
              <a:rPr lang="en-ID" sz="2200" dirty="0"/>
              <a:t> </a:t>
            </a:r>
            <a:r>
              <a:rPr lang="en-ID" sz="2200" dirty="0" err="1"/>
              <a:t>tinggi</a:t>
            </a:r>
            <a:r>
              <a:rPr lang="en-ID" sz="2200" dirty="0"/>
              <a:t> </a:t>
            </a:r>
            <a:r>
              <a:rPr lang="en-ID" sz="2200" dirty="0" err="1"/>
              <a:t>kepada</a:t>
            </a:r>
            <a:r>
              <a:rPr lang="en-ID" sz="2200" dirty="0"/>
              <a:t> </a:t>
            </a:r>
            <a:r>
              <a:rPr lang="en-ID" sz="2200" dirty="0" err="1"/>
              <a:t>seluruh</a:t>
            </a:r>
            <a:r>
              <a:rPr lang="en-ID" sz="2200" dirty="0"/>
              <a:t> </a:t>
            </a:r>
            <a:r>
              <a:rPr lang="en-ID" sz="2200" dirty="0" err="1"/>
              <a:t>pelanggan</a:t>
            </a:r>
            <a:r>
              <a:rPr lang="en-ID" sz="22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61435" cy="361435"/>
          </a:xfrm>
          <a:custGeom>
            <a:avLst/>
            <a:gdLst/>
            <a:ahLst/>
            <a:cxnLst/>
            <a:rect l="l" t="t" r="r" b="b"/>
            <a:pathLst>
              <a:path w="361435" h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47508" y="3070868"/>
            <a:ext cx="6787434" cy="6762752"/>
          </a:xfrm>
          <a:custGeom>
            <a:avLst/>
            <a:gdLst/>
            <a:ahLst/>
            <a:cxnLst/>
            <a:rect l="l" t="t" r="r" b="b"/>
            <a:pathLst>
              <a:path w="6787434" h="6762752">
                <a:moveTo>
                  <a:pt x="0" y="0"/>
                </a:moveTo>
                <a:lnTo>
                  <a:pt x="6787434" y="0"/>
                </a:lnTo>
                <a:lnTo>
                  <a:pt x="6787434" y="6762752"/>
                </a:lnTo>
                <a:lnTo>
                  <a:pt x="0" y="6762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870719"/>
            <a:ext cx="6981332" cy="120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99"/>
              </a:lnSpc>
            </a:pPr>
            <a:r>
              <a:rPr lang="en-US" sz="9999" spc="-48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Terima Kasih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3525544"/>
            <a:ext cx="9980115" cy="2562541"/>
            <a:chOff x="0" y="-28575"/>
            <a:chExt cx="13306820" cy="3416721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304800" cy="304800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4986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161925"/>
                <a:ext cx="660400" cy="5746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0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716692" y="-28575"/>
              <a:ext cx="10844719" cy="547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3"/>
                </a:lnSpc>
              </a:pPr>
              <a:r>
                <a:rPr lang="en-US" sz="2599" b="1" spc="-77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Email:</a:t>
              </a:r>
              <a:r>
                <a:rPr lang="en-US" sz="2599" spc="-77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apriliantoputra696@gmail.com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6692" y="1682722"/>
              <a:ext cx="12590128" cy="1705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53"/>
                </a:lnSpc>
              </a:pPr>
              <a:r>
                <a:rPr lang="en-US" sz="2599" b="1" spc="-77" dirty="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Link Dashboard:</a:t>
              </a:r>
              <a:r>
                <a:rPr lang="en-US" sz="2599" spc="-77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https://datastudio.google.com/reporting/5e1dc0bd-5202-4715-b66e-4a44bae59582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692" y="827073"/>
              <a:ext cx="12590128" cy="547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3"/>
                </a:lnSpc>
              </a:pPr>
              <a:r>
                <a:rPr lang="en-US" sz="2599" b="1" spc="-77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Linkedin:</a:t>
              </a:r>
              <a:r>
                <a:rPr lang="en-US" sz="2599" spc="-77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https://www.linkedin.com/in/muhammad-aprilianto-putra/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874444"/>
              <a:ext cx="304800" cy="30480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779E3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161925"/>
                <a:ext cx="660400" cy="5746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0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1748889"/>
              <a:ext cx="304800" cy="30480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9842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161925"/>
                <a:ext cx="660400" cy="5746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0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930</Words>
  <Application>Microsoft Office PowerPoint</Application>
  <PresentationFormat>Custom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Open Sans Bold</vt:lpstr>
      <vt:lpstr>Arial</vt:lpstr>
      <vt:lpstr>TT Interphases Bold</vt:lpstr>
      <vt:lpstr>Open Sans</vt:lpstr>
      <vt:lpstr>Calibri</vt:lpstr>
      <vt:lpstr>TT Interphases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Penjualan E-commerce 2023-2024</dc:title>
  <cp:lastModifiedBy>Aprilianto putra</cp:lastModifiedBy>
  <cp:revision>18</cp:revision>
  <dcterms:created xsi:type="dcterms:W3CDTF">2006-08-16T00:00:00Z</dcterms:created>
  <dcterms:modified xsi:type="dcterms:W3CDTF">2026-07-27T09:49:58Z</dcterms:modified>
  <dc:identifier>DAHPVwUlGoE</dc:identifier>
</cp:coreProperties>
</file>